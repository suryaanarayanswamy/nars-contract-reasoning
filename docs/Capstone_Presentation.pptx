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074b6c3-d998-2796-f63d-ea408a6348cf}">
          <p14:sldIdLst>
            <p14:sldId id="256"/>
            <p14:sldId id="257"/>
          </p14:sldIdLst>
        </p14:section>
        <p14:section name="Data" id="{aa82dc9d-9b46-4c46-e856-c4788e81403a}">
          <p14:sldIdLst>
            <p14:sldId id="258"/>
          </p14:sldIdLst>
        </p14:section>
        <p14:section name="Method" id="{b465da52-156f-ac47-cadd-b9f9d6d447e7}">
          <p14:sldIdLst>
            <p14:sldId id="259"/>
            <p14:sldId id="260"/>
            <p14:sldId id="261"/>
          </p14:sldIdLst>
        </p14:section>
        <p14:section name="Results" id="{30f4edb8-c0f4-3f9b-bd76-0fd1c1a01067}">
          <p14:sldIdLst>
            <p14:sldId id="262"/>
            <p14:sldId id="263"/>
          </p14:sldIdLst>
        </p14:section>
        <p14:section name="Troubles" id="{b48e357a-3bf1-bae4-70fe-ed6b7857cd2f}">
          <p14:sldIdLst>
            <p14:sldId id="264"/>
            <p14:sldId id="265"/>
            <p14:sldId id="266"/>
          </p14:sldIdLst>
        </p14:section>
        <p14:section name="Status" id="{a08be944-f313-a6ec-1478-9210e58b62de}">
          <p14:sldIdLst>
            <p14:sldId id="267"/>
            <p14:sldId id="268"/>
          </p14:sldIdLst>
        </p14:section>
        <p14:section name="Decisions" id="{b2bfdc5e-587b-745c-d9a5-45ba125fde01}">
          <p14:sldIdLst>
            <p14:sldId id="269"/>
          </p14:sldIdLst>
        </p14:section>
        <p14:section name="Next" id="{e7e04119-5b4d-577c-211e-22eb7997521b}">
          <p14:sldIdLst>
            <p14:sldId id="270"/>
          </p14:sldIdLst>
        </p14:section>
        <p14:section name="Appendix" id="{62baad44-e189-c86b-d0d2-5c8c254f17f6}">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 (%)</c:v>
                </c:pt>
              </c:strCache>
            </c:strRef>
          </c:tx>
          <c:spPr>
            <a:solidFill>
              <a:srgbClr val="1F8A82"/>
            </a:solidFill>
            <a:effectLst/>
          </c:spPr>
          <c:invertIfNegative val="0"/>
          <c:dLbls>
            <c:numFmt formatCode="#,##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1F8A82"/>
              </a:solidFill>
              <a:effectLst/>
            </c:spPr>
          </c:dPt>
          <c:dPt>
            <c:idx val="1"/>
            <c:invertIfNegative val="0"/>
            <c:bubble3D val="0"/>
            <c:spPr>
              <a:solidFill>
                <a:srgbClr val="1F8A82"/>
              </a:solidFill>
              <a:effectLst/>
            </c:spPr>
          </c:dPt>
          <c:dPt>
            <c:idx val="2"/>
            <c:invertIfNegative val="0"/>
            <c:bubble3D val="0"/>
            <c:spPr>
              <a:solidFill>
                <a:srgbClr val="1F8A82"/>
              </a:solidFill>
              <a:effectLst/>
            </c:spPr>
          </c:dPt>
          <c:dPt>
            <c:idx val="3"/>
            <c:invertIfNegative val="0"/>
            <c:bubble3D val="0"/>
            <c:spPr>
              <a:solidFill>
                <a:srgbClr val="6B7C93"/>
              </a:solidFill>
              <a:effectLst/>
            </c:spPr>
          </c:dPt>
          <c:dPt>
            <c:idx val="4"/>
            <c:invertIfNegative val="0"/>
            <c:bubble3D val="0"/>
            <c:spPr>
              <a:solidFill>
                <a:srgbClr val="B83A32"/>
              </a:solidFill>
              <a:effectLst/>
            </c:spPr>
          </c:dPt>
          <c:dPt>
            <c:idx val="5"/>
            <c:invertIfNegative val="0"/>
            <c:bubble3D val="0"/>
            <c:spPr>
              <a:solidFill>
                <a:srgbClr val="D98E04"/>
              </a:solidFill>
              <a:effectLst/>
            </c:spPr>
          </c:dPt>
          <c:cat>
            <c:multiLvlStrRef>
              <c:f>Sheet1!$A$2:$A$7</c:f>
              <c:multiLvlStrCache>
                <c:ptCount val="6"/>
                <c:lvl>
                  <c:pt idx="0">
                    <c:v>A2 (dev60)</c:v>
                  </c:pt>
                  <c:pt idx="1">
                    <c:v>Run 1 (dev60)</c:v>
                  </c:pt>
                  <c:pt idx="2">
                    <c:v>Run 2 (dev60)</c:v>
                  </c:pt>
                  <c:pt idx="3">
                    <c:v>Plain LLM (fresh15)</c:v>
                  </c:pt>
                  <c:pt idx="4">
                    <c:v>Pipeline (fresh15, old ONA)</c:v>
                  </c:pt>
                  <c:pt idx="5">
                    <c:v>Pipeline (dev15, now)</c:v>
                  </c:pt>
                </c:lvl>
              </c:multiLvlStrCache>
            </c:multiLvlStrRef>
          </c:cat>
          <c:val>
            <c:numRef>
              <c:f>Sheet1!$B$2:$B$7</c:f>
              <c:numCache>
                <c:formatCode>General</c:formatCode>
                <c:ptCount val="6"/>
                <c:pt idx="0">
                  <c:v>72</c:v>
                </c:pt>
                <c:pt idx="1">
                  <c:v>77</c:v>
                </c:pt>
                <c:pt idx="2">
                  <c:v>82</c:v>
                </c:pt>
                <c:pt idx="3">
                  <c:v>87</c:v>
                </c:pt>
                <c:pt idx="4">
                  <c:v>53</c:v>
                </c:pt>
                <c:pt idx="5">
                  <c:v>57</c:v>
                </c:pt>
              </c:numCache>
            </c:numRef>
          </c:val>
        </c:ser>
        <c:dLbls>
          <c:numFmt formatCode="#,##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24A5F"/>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question. The project tests whether turning contract text into formal logic and reasoning with ONA beats asking an LLM directly. Today: what we built, the problems we hit, honest results, and decisions I need from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labels per claim. The plain LLM answers directly. Our pipeline translates the clause and the claim into Narsese, lets ONA reason, and reads the label from the answer's frequency. The promise is a traceable answer: you can see which clause and which rule produced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came from the dataset: contracts, the 17 fixed claims, the labels and the evidence spans. We did not write hypotheses or labels. What we did: pick rows, balance them, join the span texts into evidence. The ret_ prefix is from an earlier version that used retrieval. The latest runs use the annotated evidence directly, so retrieval is not a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Key idea: the open translation does not look at the claim, so it works for new datasets. Only the alignment step compares clause and claim, and it only labels how they relate. Generic axioms say what Prohibited, Permitted and Obligated imply. ONA does the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your main requirement and mine. Nothing the clause says may be dropped: actor, force, every verb, object, recipient, purpose, condition, exception. Example: an OR in the claim used to be merged into one long word. Now the OR stays an OR in the Narsese.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automatic checks. They catch missing words and unsupported text, but they cannot prove the meaning is right. That is why we also made a human check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straightforward. The first three bars are on the rows we developed against, so they are optimistic. The last three are the honest picture: on 15 fresh rows the plain LLM beat our pipeline, 13 of 15 against 8 of 15, and that run used the old, buggy ONA encoding. The current dev15 run is 8 of 14. Everything before the ONA fixes needs re-measuring.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82 percent number should not be presented as the result. It was tuned on those rows. The fresh comparison was the first honest test and the pipeline lost. Since then we found and fixed real engine bugs, but we have not yet re-run the fresh comparison with the fixed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found by testing, not documented. Each one made correct translations silently fail. We fixed them in the encoding rather than hoping the model would avoid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0 of 14 result on dev15 was not a translation failure at all. The enlarged ONA build compiled but macOS refused to start it, and my runner treated the crash as no answer. All rows became NotMentioned. We now smoke-test the build and raise on a crash. Other bugs found afterwards: a 60-second timeout hid a correct answer, and clauses of the form 'does not include' never reached 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Smaller issues first: unexpected force words like 'means' lost definitions, and quotes the model stitched from two places failed grounding. The big one is alignment: on borderline clauses the labels change when the prompt changes. Between two runs with identical translations, ret_8 and ret_11 flipped from right to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ONA size and crash problems are fixed: no row has an ONA error. The remaining misses are about meaning. Three need a better alignment label or judgement. One is an implied permission. One needs a look at why a conflict rule does not reach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answer: mostly, but we have not measured it directly. Word coverage is high, but coverage is not correctness. A reversed condition would pass the ledger. The check sheet is how we get a real number: someone ticks force, actor, action, object, conditions, exceptions, lost and added for each 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policy questions where the dataset and the logic do not settle the answer. Your view decides how we encode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finish the multi-agent run, then the fair comparison against the plain model on fresh rows, then fill in the translation check, then a held-out evaluation. Free providers (Ollama local, Groq or Gemini free tiers) can serve as extra agents for lower cost and less correlated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Do not read this out; point to it if asked where something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3716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371600"/>
          </a:xfrm>
          <a:prstGeom prst="rect">
            <a:avLst/>
          </a:prstGeom>
          <a:noFill/>
          <a:ln/>
        </p:spPr>
        <p:txBody>
          <a:bodyPr wrap="square" lIns="0" tIns="0" rIns="0" bIns="0" rtlCol="0" anchor="t"/>
          <a:lstStyle/>
          <a:p>
            <a:pPr algn="l" indent="0" marL="0">
              <a:buNone/>
            </a:pPr>
            <a:r>
              <a:rPr lang="en-US" sz="3800" b="1" dirty="0">
                <a:solidFill>
                  <a:schemeClr val="bg1"/>
                </a:solidFill>
              </a:rPr>
              <a:t>Can NARS reasoning make LLM contract analysis explainable and accurate?</a:t>
            </a:r>
            <a:endParaRPr lang="en-US" sz="3800" dirty="0"/>
          </a:p>
        </p:txBody>
      </p:sp>
      <p:sp>
        <p:nvSpPr>
          <p:cNvPr id="3" name="subtitle"/>
          <p:cNvSpPr txBox="1"/>
          <p:nvPr/>
        </p:nvSpPr>
        <p:spPr>
          <a:xfrm>
            <a:off x="548640" y="3291840"/>
            <a:ext cx="8046720" cy="457200"/>
          </a:xfrm>
          <a:prstGeom prst="rect">
            <a:avLst/>
          </a:prstGeom>
          <a:noFill/>
          <a:ln/>
        </p:spPr>
        <p:txBody>
          <a:bodyPr wrap="square" lIns="0" tIns="0" rIns="0" bIns="0" rtlCol="0" anchor="ctr"/>
          <a:lstStyle/>
          <a:p>
            <a:pPr indent="0" marL="0">
              <a:buNone/>
            </a:pPr>
            <a:r>
              <a:rPr lang="en-US" sz="1800" dirty="0">
                <a:solidFill>
                  <a:schemeClr val="accent6"/>
                </a:solidFill>
              </a:rPr>
              <a:t>Capstone progress update: ContractNLI NDAs, LLM translation + ONA reasoning</a:t>
            </a:r>
            <a:endParaRPr lang="en-US" sz="1800" dirty="0"/>
          </a:p>
        </p:txBody>
      </p:sp>
      <p:sp>
        <p:nvSpPr>
          <p:cNvPr id="4" name="audience"/>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400" dirty="0">
                <a:solidFill>
                  <a:schemeClr val="bg2"/>
                </a:solidFill>
              </a:rPr>
              <a:t>For Dr. Pei Wang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The question and the task</a:t>
            </a:r>
            <a:endParaRPr lang="en-US" sz="3000" dirty="0"/>
          </a:p>
        </p:txBody>
      </p:sp>
      <p:sp>
        <p:nvSpPr>
          <p:cNvPr id="4" name="task card"/>
          <p:cNvSpPr/>
          <p:nvPr/>
        </p:nvSpPr>
        <p:spPr>
          <a:xfrm>
            <a:off x="457200" y="1188720"/>
            <a:ext cx="3977640" cy="1600200"/>
          </a:xfrm>
          <a:prstGeom prst="roundRect">
            <a:avLst>
              <a:gd name="adj" fmla="val 4571"/>
            </a:avLst>
          </a:prstGeom>
          <a:solidFill>
            <a:schemeClr val="bg2"/>
          </a:solidFill>
          <a:ln w="12700">
            <a:solidFill>
              <a:schemeClr val="bg2"/>
            </a:solidFill>
            <a:prstDash val="solid"/>
          </a:ln>
        </p:spPr>
      </p:sp>
      <p:sp>
        <p:nvSpPr>
          <p:cNvPr id="5" name="task dot"/>
          <p:cNvSpPr/>
          <p:nvPr/>
        </p:nvSpPr>
        <p:spPr>
          <a:xfrm>
            <a:off x="640080" y="1371600"/>
            <a:ext cx="128016" cy="128016"/>
          </a:xfrm>
          <a:prstGeom prst="ellipse">
            <a:avLst/>
          </a:prstGeom>
          <a:solidFill>
            <a:schemeClr val="accent1"/>
          </a:solidFill>
          <a:ln w="12700">
            <a:solidFill>
              <a:schemeClr val="accent1"/>
            </a:solidFill>
            <a:prstDash val="solid"/>
          </a:ln>
        </p:spPr>
      </p:sp>
      <p:sp>
        <p:nvSpPr>
          <p:cNvPr id="6" name="task head"/>
          <p:cNvSpPr txBox="1"/>
          <p:nvPr/>
        </p:nvSpPr>
        <p:spPr>
          <a:xfrm>
            <a:off x="868680" y="1280160"/>
            <a:ext cx="3429000" cy="320040"/>
          </a:xfrm>
          <a:prstGeom prst="rect">
            <a:avLst/>
          </a:prstGeom>
          <a:noFill/>
          <a:ln/>
        </p:spPr>
        <p:txBody>
          <a:bodyPr wrap="square" lIns="0" tIns="0" rIns="0" bIns="0" rtlCol="0" anchor="ctr"/>
          <a:lstStyle/>
          <a:p>
            <a:pPr indent="0" marL="0">
              <a:buNone/>
            </a:pPr>
            <a:r>
              <a:rPr lang="en-US" sz="1500" b="1" dirty="0">
                <a:solidFill>
                  <a:schemeClr val="tx1"/>
                </a:solidFill>
              </a:rPr>
              <a:t>Task: ContractNLI</a:t>
            </a:r>
            <a:endParaRPr lang="en-US" sz="1500" dirty="0"/>
          </a:p>
        </p:txBody>
      </p:sp>
      <p:sp>
        <p:nvSpPr>
          <p:cNvPr id="7" name="task body"/>
          <p:cNvSpPr txBox="1"/>
          <p:nvPr/>
        </p:nvSpPr>
        <p:spPr>
          <a:xfrm>
            <a:off x="640080" y="1645920"/>
            <a:ext cx="3611880" cy="1051560"/>
          </a:xfrm>
          <a:prstGeom prst="rect">
            <a:avLst/>
          </a:prstGeom>
          <a:noFill/>
          <a:ln/>
        </p:spPr>
        <p:txBody>
          <a:bodyPr wrap="square" lIns="0" tIns="0" rIns="0" bIns="0" rtlCol="0" anchor="t"/>
          <a:lstStyle/>
          <a:p>
            <a:pPr indent="0" marL="0">
              <a:buNone/>
            </a:pPr>
            <a:r>
              <a:rPr lang="en-US" sz="1300" dirty="0">
                <a:solidFill>
                  <a:schemeClr val="tx2"/>
                </a:solidFill>
              </a:rPr>
              <a:t>Given an NDA clause and a claim about it, label the claim Entailment, Contradiction or NotMentioned.</a:t>
            </a:r>
            <a:endParaRPr lang="en-US" sz="1300" dirty="0"/>
          </a:p>
        </p:txBody>
      </p:sp>
      <p:sp>
        <p:nvSpPr>
          <p:cNvPr id="8" name="baseline card"/>
          <p:cNvSpPr/>
          <p:nvPr/>
        </p:nvSpPr>
        <p:spPr>
          <a:xfrm>
            <a:off x="4709160" y="1188720"/>
            <a:ext cx="3977640" cy="1600200"/>
          </a:xfrm>
          <a:prstGeom prst="roundRect">
            <a:avLst>
              <a:gd name="adj" fmla="val 4571"/>
            </a:avLst>
          </a:prstGeom>
          <a:solidFill>
            <a:schemeClr val="bg2"/>
          </a:solidFill>
          <a:ln w="12700">
            <a:solidFill>
              <a:schemeClr val="bg2"/>
            </a:solidFill>
            <a:prstDash val="solid"/>
          </a:ln>
        </p:spPr>
      </p:sp>
      <p:sp>
        <p:nvSpPr>
          <p:cNvPr id="9" name="baseline dot"/>
          <p:cNvSpPr/>
          <p:nvPr/>
        </p:nvSpPr>
        <p:spPr>
          <a:xfrm>
            <a:off x="4892040" y="1371600"/>
            <a:ext cx="128016" cy="128016"/>
          </a:xfrm>
          <a:prstGeom prst="ellipse">
            <a:avLst/>
          </a:prstGeom>
          <a:solidFill>
            <a:schemeClr val="accent5"/>
          </a:solidFill>
          <a:ln w="12700">
            <a:solidFill>
              <a:schemeClr val="accent5"/>
            </a:solidFill>
            <a:prstDash val="solid"/>
          </a:ln>
        </p:spPr>
      </p:sp>
      <p:sp>
        <p:nvSpPr>
          <p:cNvPr id="10" name="baseline head"/>
          <p:cNvSpPr txBox="1"/>
          <p:nvPr/>
        </p:nvSpPr>
        <p:spPr>
          <a:xfrm>
            <a:off x="5120640" y="1280160"/>
            <a:ext cx="3429000" cy="320040"/>
          </a:xfrm>
          <a:prstGeom prst="rect">
            <a:avLst/>
          </a:prstGeom>
          <a:noFill/>
          <a:ln/>
        </p:spPr>
        <p:txBody>
          <a:bodyPr wrap="square" lIns="0" tIns="0" rIns="0" bIns="0" rtlCol="0" anchor="ctr"/>
          <a:lstStyle/>
          <a:p>
            <a:pPr indent="0" marL="0">
              <a:buNone/>
            </a:pPr>
            <a:r>
              <a:rPr lang="en-US" sz="1500" b="1" dirty="0">
                <a:solidFill>
                  <a:schemeClr val="tx1"/>
                </a:solidFill>
              </a:rPr>
              <a:t>Baseline: plain LLM</a:t>
            </a:r>
            <a:endParaRPr lang="en-US" sz="1500" dirty="0"/>
          </a:p>
        </p:txBody>
      </p:sp>
      <p:sp>
        <p:nvSpPr>
          <p:cNvPr id="11" name="baseline body"/>
          <p:cNvSpPr txBox="1"/>
          <p:nvPr/>
        </p:nvSpPr>
        <p:spPr>
          <a:xfrm>
            <a:off x="4892040" y="1645920"/>
            <a:ext cx="3611880" cy="1051560"/>
          </a:xfrm>
          <a:prstGeom prst="rect">
            <a:avLst/>
          </a:prstGeom>
          <a:noFill/>
          <a:ln/>
        </p:spPr>
        <p:txBody>
          <a:bodyPr wrap="square" lIns="0" tIns="0" rIns="0" bIns="0" rtlCol="0" anchor="t"/>
          <a:lstStyle/>
          <a:p>
            <a:pPr indent="0" marL="0">
              <a:buNone/>
            </a:pPr>
            <a:r>
              <a:rPr lang="en-US" sz="1300" dirty="0">
                <a:solidFill>
                  <a:schemeClr val="tx2"/>
                </a:solidFill>
              </a:rPr>
              <a:t>Ask the model for the label directly (GPT-4o). Fast, but a black box.</a:t>
            </a:r>
            <a:endParaRPr lang="en-US" sz="1300" dirty="0"/>
          </a:p>
        </p:txBody>
      </p:sp>
      <p:sp>
        <p:nvSpPr>
          <p:cNvPr id="12" name="ours card"/>
          <p:cNvSpPr/>
          <p:nvPr/>
        </p:nvSpPr>
        <p:spPr>
          <a:xfrm>
            <a:off x="457200" y="3017520"/>
            <a:ext cx="3977640" cy="1600200"/>
          </a:xfrm>
          <a:prstGeom prst="roundRect">
            <a:avLst>
              <a:gd name="adj" fmla="val 4571"/>
            </a:avLst>
          </a:prstGeom>
          <a:solidFill>
            <a:schemeClr val="bg2"/>
          </a:solidFill>
          <a:ln w="12700">
            <a:solidFill>
              <a:schemeClr val="bg2"/>
            </a:solidFill>
            <a:prstDash val="solid"/>
          </a:ln>
        </p:spPr>
      </p:sp>
      <p:sp>
        <p:nvSpPr>
          <p:cNvPr id="13" name="ours dot"/>
          <p:cNvSpPr/>
          <p:nvPr/>
        </p:nvSpPr>
        <p:spPr>
          <a:xfrm>
            <a:off x="640080" y="3200400"/>
            <a:ext cx="128016" cy="128016"/>
          </a:xfrm>
          <a:prstGeom prst="ellipse">
            <a:avLst/>
          </a:prstGeom>
          <a:solidFill>
            <a:schemeClr val="accent2"/>
          </a:solidFill>
          <a:ln w="12700">
            <a:solidFill>
              <a:schemeClr val="accent2"/>
            </a:solidFill>
            <a:prstDash val="solid"/>
          </a:ln>
        </p:spPr>
      </p:sp>
      <p:sp>
        <p:nvSpPr>
          <p:cNvPr id="14" name="ours head"/>
          <p:cNvSpPr txBox="1"/>
          <p:nvPr/>
        </p:nvSpPr>
        <p:spPr>
          <a:xfrm>
            <a:off x="868680" y="3108960"/>
            <a:ext cx="3429000" cy="320040"/>
          </a:xfrm>
          <a:prstGeom prst="rect">
            <a:avLst/>
          </a:prstGeom>
          <a:noFill/>
          <a:ln/>
        </p:spPr>
        <p:txBody>
          <a:bodyPr wrap="square" lIns="0" tIns="0" rIns="0" bIns="0" rtlCol="0" anchor="ctr"/>
          <a:lstStyle/>
          <a:p>
            <a:pPr indent="0" marL="0">
              <a:buNone/>
            </a:pPr>
            <a:r>
              <a:rPr lang="en-US" sz="1500" b="1" dirty="0">
                <a:solidFill>
                  <a:schemeClr val="tx1"/>
                </a:solidFill>
              </a:rPr>
              <a:t>Ours: LLM + ONA</a:t>
            </a:r>
            <a:endParaRPr lang="en-US" sz="1500" dirty="0"/>
          </a:p>
        </p:txBody>
      </p:sp>
      <p:sp>
        <p:nvSpPr>
          <p:cNvPr id="15" name="ours body"/>
          <p:cNvSpPr txBox="1"/>
          <p:nvPr/>
        </p:nvSpPr>
        <p:spPr>
          <a:xfrm>
            <a:off x="640080" y="3474720"/>
            <a:ext cx="3611880" cy="1051560"/>
          </a:xfrm>
          <a:prstGeom prst="rect">
            <a:avLst/>
          </a:prstGeom>
          <a:noFill/>
          <a:ln/>
        </p:spPr>
        <p:txBody>
          <a:bodyPr wrap="square" lIns="0" tIns="0" rIns="0" bIns="0" rtlCol="0" anchor="t"/>
          <a:lstStyle/>
          <a:p>
            <a:pPr indent="0" marL="0">
              <a:buNone/>
            </a:pPr>
            <a:r>
              <a:rPr lang="en-US" sz="1300" dirty="0">
                <a:solidFill>
                  <a:schemeClr val="tx2"/>
                </a:solidFill>
              </a:rPr>
              <a:t>LLM translates to Narsese, ONA reasons. Frequency 0.5 or more: Entailment. 0.05 or less: Contradiction. Otherwise: NotMentioned.</a:t>
            </a:r>
            <a:endParaRPr lang="en-US" sz="1300" dirty="0"/>
          </a:p>
        </p:txBody>
      </p:sp>
      <p:sp>
        <p:nvSpPr>
          <p:cNvPr id="16" name="req card"/>
          <p:cNvSpPr/>
          <p:nvPr/>
        </p:nvSpPr>
        <p:spPr>
          <a:xfrm>
            <a:off x="4709160" y="3017520"/>
            <a:ext cx="3977640" cy="1600200"/>
          </a:xfrm>
          <a:prstGeom prst="roundRect">
            <a:avLst>
              <a:gd name="adj" fmla="val 4571"/>
            </a:avLst>
          </a:prstGeom>
          <a:solidFill>
            <a:schemeClr val="bg2"/>
          </a:solidFill>
          <a:ln w="12700">
            <a:solidFill>
              <a:schemeClr val="bg2"/>
            </a:solidFill>
            <a:prstDash val="solid"/>
          </a:ln>
        </p:spPr>
      </p:sp>
      <p:sp>
        <p:nvSpPr>
          <p:cNvPr id="17" name="req dot"/>
          <p:cNvSpPr/>
          <p:nvPr/>
        </p:nvSpPr>
        <p:spPr>
          <a:xfrm>
            <a:off x="4892040" y="3200400"/>
            <a:ext cx="128016" cy="128016"/>
          </a:xfrm>
          <a:prstGeom prst="ellipse">
            <a:avLst/>
          </a:prstGeom>
          <a:solidFill>
            <a:schemeClr val="accent3"/>
          </a:solidFill>
          <a:ln w="12700">
            <a:solidFill>
              <a:schemeClr val="accent3"/>
            </a:solidFill>
            <a:prstDash val="solid"/>
          </a:ln>
        </p:spPr>
      </p:sp>
      <p:sp>
        <p:nvSpPr>
          <p:cNvPr id="18" name="req head"/>
          <p:cNvSpPr txBox="1"/>
          <p:nvPr/>
        </p:nvSpPr>
        <p:spPr>
          <a:xfrm>
            <a:off x="5120640" y="3108960"/>
            <a:ext cx="3429000" cy="320040"/>
          </a:xfrm>
          <a:prstGeom prst="rect">
            <a:avLst/>
          </a:prstGeom>
          <a:noFill/>
          <a:ln/>
        </p:spPr>
        <p:txBody>
          <a:bodyPr wrap="square" lIns="0" tIns="0" rIns="0" bIns="0" rtlCol="0" anchor="ctr"/>
          <a:lstStyle/>
          <a:p>
            <a:pPr indent="0" marL="0">
              <a:buNone/>
            </a:pPr>
            <a:r>
              <a:rPr lang="en-US" sz="1500" b="1" dirty="0">
                <a:solidFill>
                  <a:schemeClr val="tx1"/>
                </a:solidFill>
              </a:rPr>
              <a:t>Central requirement</a:t>
            </a:r>
            <a:endParaRPr lang="en-US" sz="1500" dirty="0"/>
          </a:p>
        </p:txBody>
      </p:sp>
      <p:sp>
        <p:nvSpPr>
          <p:cNvPr id="19" name="req body"/>
          <p:cNvSpPr txBox="1"/>
          <p:nvPr/>
        </p:nvSpPr>
        <p:spPr>
          <a:xfrm>
            <a:off x="4892040" y="3474720"/>
            <a:ext cx="3611880" cy="1051560"/>
          </a:xfrm>
          <a:prstGeom prst="rect">
            <a:avLst/>
          </a:prstGeom>
          <a:noFill/>
          <a:ln/>
        </p:spPr>
        <p:txBody>
          <a:bodyPr wrap="square" lIns="0" tIns="0" rIns="0" bIns="0" rtlCol="0" anchor="t"/>
          <a:lstStyle/>
          <a:p>
            <a:pPr indent="0" marL="0">
              <a:buNone/>
            </a:pPr>
            <a:r>
              <a:rPr lang="en-US" sz="1300" dirty="0">
                <a:solidFill>
                  <a:schemeClr val="tx2"/>
                </a:solidFill>
              </a:rPr>
              <a:t>The translation must lose no meaning, so everything the contract says reaches ONA.</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Starting point: the ContractNLI data</a:t>
            </a:r>
            <a:endParaRPr lang="en-US" sz="3000" dirty="0"/>
          </a:p>
        </p:txBody>
      </p:sp>
      <p:sp>
        <p:nvSpPr>
          <p:cNvPr id="4" name="docs number"/>
          <p:cNvSpPr txBox="1"/>
          <p:nvPr/>
        </p:nvSpPr>
        <p:spPr>
          <a:xfrm>
            <a:off x="457200" y="1188720"/>
            <a:ext cx="1828800" cy="82296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61</a:t>
            </a:r>
            <a:endParaRPr lang="en-US" sz="4800" dirty="0"/>
          </a:p>
        </p:txBody>
      </p:sp>
      <p:sp>
        <p:nvSpPr>
          <p:cNvPr id="5" name="docs label"/>
          <p:cNvSpPr txBox="1"/>
          <p:nvPr/>
        </p:nvSpPr>
        <p:spPr>
          <a:xfrm>
            <a:off x="457200" y="2011680"/>
            <a:ext cx="1828800" cy="548640"/>
          </a:xfrm>
          <a:prstGeom prst="rect">
            <a:avLst/>
          </a:prstGeom>
          <a:noFill/>
          <a:ln/>
        </p:spPr>
        <p:txBody>
          <a:bodyPr wrap="square" lIns="0" tIns="0" rIns="0" bIns="0" rtlCol="0" anchor="t"/>
          <a:lstStyle/>
          <a:p>
            <a:pPr indent="0" marL="0">
              <a:buNone/>
            </a:pPr>
            <a:r>
              <a:rPr lang="en-US" sz="1300" dirty="0">
                <a:solidFill>
                  <a:schemeClr val="tx2"/>
                </a:solidFill>
              </a:rPr>
              <a:t>dev contracts, split into numbered clauses</a:t>
            </a:r>
            <a:endParaRPr lang="en-US" sz="1300" dirty="0"/>
          </a:p>
        </p:txBody>
      </p:sp>
      <p:sp>
        <p:nvSpPr>
          <p:cNvPr id="6" name="claims number"/>
          <p:cNvSpPr txBox="1"/>
          <p:nvPr/>
        </p:nvSpPr>
        <p:spPr>
          <a:xfrm>
            <a:off x="2377440" y="1188720"/>
            <a:ext cx="1828800" cy="82296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17</a:t>
            </a:r>
            <a:endParaRPr lang="en-US" sz="4800" dirty="0"/>
          </a:p>
        </p:txBody>
      </p:sp>
      <p:sp>
        <p:nvSpPr>
          <p:cNvPr id="7" name="claims label"/>
          <p:cNvSpPr txBox="1"/>
          <p:nvPr/>
        </p:nvSpPr>
        <p:spPr>
          <a:xfrm>
            <a:off x="2377440" y="2011680"/>
            <a:ext cx="1828800" cy="548640"/>
          </a:xfrm>
          <a:prstGeom prst="rect">
            <a:avLst/>
          </a:prstGeom>
          <a:noFill/>
          <a:ln/>
        </p:spPr>
        <p:txBody>
          <a:bodyPr wrap="square" lIns="0" tIns="0" rIns="0" bIns="0" rtlCol="0" anchor="t"/>
          <a:lstStyle/>
          <a:p>
            <a:pPr indent="0" marL="0">
              <a:buNone/>
            </a:pPr>
            <a:r>
              <a:rPr lang="en-US" sz="1300" dirty="0">
                <a:solidFill>
                  <a:schemeClr val="tx2"/>
                </a:solidFill>
              </a:rPr>
              <a:t>fixed claims about NDAs</a:t>
            </a:r>
            <a:endParaRPr lang="en-US" sz="1300" dirty="0"/>
          </a:p>
        </p:txBody>
      </p:sp>
      <p:sp>
        <p:nvSpPr>
          <p:cNvPr id="8" name="labels number"/>
          <p:cNvSpPr txBox="1"/>
          <p:nvPr/>
        </p:nvSpPr>
        <p:spPr>
          <a:xfrm>
            <a:off x="4297680" y="1188720"/>
            <a:ext cx="1828800" cy="822960"/>
          </a:xfrm>
          <a:prstGeom prst="rect">
            <a:avLst/>
          </a:prstGeom>
          <a:noFill/>
          <a:ln/>
        </p:spPr>
        <p:txBody>
          <a:bodyPr wrap="square" lIns="0" tIns="0" rIns="0" bIns="0" rtlCol="0" anchor="ctr"/>
          <a:lstStyle/>
          <a:p>
            <a:pPr indent="0" marL="0">
              <a:buNone/>
            </a:pPr>
            <a:r>
              <a:rPr lang="en-US" sz="4800" b="1" dirty="0">
                <a:solidFill>
                  <a:schemeClr val="accent3"/>
                </a:solidFill>
                <a:latin typeface="Cambria" pitchFamily="34" charset="0"/>
                <a:ea typeface="Cambria" pitchFamily="34" charset="-122"/>
                <a:cs typeface="Cambria" pitchFamily="34" charset="-120"/>
              </a:rPr>
              <a:t>3</a:t>
            </a:r>
            <a:endParaRPr lang="en-US" sz="4800" dirty="0"/>
          </a:p>
        </p:txBody>
      </p:sp>
      <p:sp>
        <p:nvSpPr>
          <p:cNvPr id="9" name="labels label"/>
          <p:cNvSpPr txBox="1"/>
          <p:nvPr/>
        </p:nvSpPr>
        <p:spPr>
          <a:xfrm>
            <a:off x="4297680" y="2011680"/>
            <a:ext cx="1828800" cy="548640"/>
          </a:xfrm>
          <a:prstGeom prst="rect">
            <a:avLst/>
          </a:prstGeom>
          <a:noFill/>
          <a:ln/>
        </p:spPr>
        <p:txBody>
          <a:bodyPr wrap="square" lIns="0" tIns="0" rIns="0" bIns="0" rtlCol="0" anchor="t"/>
          <a:lstStyle/>
          <a:p>
            <a:pPr indent="0" marL="0">
              <a:buNone/>
            </a:pPr>
            <a:r>
              <a:rPr lang="en-US" sz="1300" dirty="0">
                <a:solidFill>
                  <a:schemeClr val="tx2"/>
                </a:solidFill>
              </a:rPr>
              <a:t>labels per pair, annotated by humans</a:t>
            </a:r>
            <a:endParaRPr lang="en-US" sz="1300" dirty="0"/>
          </a:p>
        </p:txBody>
      </p:sp>
      <p:sp>
        <p:nvSpPr>
          <p:cNvPr id="10" name="dataset bullets"/>
          <p:cNvSpPr txBox="1"/>
          <p:nvPr/>
        </p:nvSpPr>
        <p:spPr>
          <a:xfrm>
            <a:off x="457200" y="2651760"/>
            <a:ext cx="822960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Given by the dataset: contract text, claims, labels, evidence span numbers</a:t>
            </a:r>
            <a:endParaRPr lang="en-US" sz="1500" dirty="0"/>
          </a:p>
          <a:p>
            <a:pPr marL="342900" indent="-342900">
              <a:spcAft>
                <a:spcPts val="600"/>
              </a:spcAft>
              <a:buSzPct val="100000"/>
              <a:buChar char="•"/>
            </a:pPr>
            <a:r>
              <a:rPr lang="en-US" sz="1500" dirty="0">
                <a:solidFill>
                  <a:schemeClr val="tx1"/>
                </a:solidFill>
              </a:rPr>
              <a:t>Built by us: balanced rows (20 Entailment, 20 Contradiction, 20 NotMentioned)</a:t>
            </a:r>
            <a:endParaRPr lang="en-US" sz="1500" dirty="0"/>
          </a:p>
          <a:p>
            <a:pPr marL="342900" indent="-342900">
              <a:spcAft>
                <a:spcPts val="600"/>
              </a:spcAft>
              <a:buSzPct val="100000"/>
              <a:buChar char="•"/>
            </a:pPr>
            <a:r>
              <a:rPr lang="en-US" sz="1500" dirty="0">
                <a:solidFill>
                  <a:schemeClr val="tx1"/>
                </a:solidFill>
              </a:rPr>
              <a:t>eval_ret_recon.json: 60 development rows (tuned on these)</a:t>
            </a:r>
            <a:endParaRPr lang="en-US" sz="1500" dirty="0"/>
          </a:p>
          <a:p>
            <a:pPr marL="342900" indent="-342900">
              <a:spcAft>
                <a:spcPts val="600"/>
              </a:spcAft>
              <a:buSzPct val="100000"/>
              <a:buChar char="•"/>
            </a:pPr>
            <a:r>
              <a:rPr lang="en-US" sz="1500" dirty="0">
                <a:solidFill>
                  <a:schemeClr val="tx1"/>
                </a:solidFill>
              </a:rPr>
              <a:t>eval_fresh60.json: 60 fresh rows never used for tuning</a:t>
            </a:r>
            <a:endParaRPr lang="en-US" sz="1500" dirty="0"/>
          </a:p>
          <a:p>
            <a:pPr marL="342900" indent="-342900">
              <a:spcAft>
                <a:spcPts val="600"/>
              </a:spcAft>
              <a:buSzPct val="100000"/>
              <a:buChar char="•"/>
            </a:pPr>
            <a:r>
              <a:rPr lang="en-US" sz="1500" dirty="0">
                <a:solidFill>
                  <a:schemeClr val="tx1"/>
                </a:solidFill>
              </a:rPr>
              <a:t>dev15.json, fresh15.json: 15-row slices for fast tests</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The pipeline, end to end</a:t>
            </a:r>
            <a:endParaRPr lang="en-US" sz="3000" dirty="0"/>
          </a:p>
        </p:txBody>
      </p:sp>
      <p:sp>
        <p:nvSpPr>
          <p:cNvPr id="4" name="step 1"/>
          <p:cNvSpPr/>
          <p:nvPr/>
        </p:nvSpPr>
        <p:spPr>
          <a:xfrm>
            <a:off x="457200" y="1371600"/>
            <a:ext cx="1280160" cy="914400"/>
          </a:xfrm>
          <a:prstGeom prst="roundRect">
            <a:avLst>
              <a:gd name="adj" fmla="val 8000"/>
            </a:avLst>
          </a:prstGeom>
          <a:solidFill>
            <a:schemeClr val="accent5"/>
          </a:solidFill>
          <a:ln w="12700">
            <a:solidFill>
              <a:schemeClr val="accent5"/>
            </a:solidFill>
            <a:prstDash val="solid"/>
          </a:ln>
        </p:spPr>
      </p:sp>
      <p:sp>
        <p:nvSpPr>
          <p:cNvPr id="5" name="step label 1"/>
          <p:cNvSpPr txBox="1"/>
          <p:nvPr/>
        </p:nvSpPr>
        <p:spPr>
          <a:xfrm>
            <a:off x="457200" y="1371600"/>
            <a:ext cx="1280160" cy="914400"/>
          </a:xfrm>
          <a:prstGeom prst="rect">
            <a:avLst/>
          </a:prstGeom>
          <a:noFill/>
          <a:ln/>
        </p:spPr>
        <p:txBody>
          <a:bodyPr wrap="square" lIns="50800" tIns="50800" rIns="50800" bIns="50800" rtlCol="0" anchor="ctr"/>
          <a:lstStyle/>
          <a:p>
            <a:pPr algn="ctr" indent="0" marL="0">
              <a:buNone/>
            </a:pPr>
            <a:r>
              <a:rPr lang="en-US" sz="1400" b="1" dirty="0">
                <a:solidFill>
                  <a:schemeClr val="bg1"/>
                </a:solidFill>
              </a:rPr>
              <a:t>Clause + claim</a:t>
            </a:r>
            <a:endParaRPr lang="en-US" sz="1400" dirty="0"/>
          </a:p>
        </p:txBody>
      </p:sp>
      <p:sp>
        <p:nvSpPr>
          <p:cNvPr id="6" name="step note 1"/>
          <p:cNvSpPr txBox="1"/>
          <p:nvPr/>
        </p:nvSpPr>
        <p:spPr>
          <a:xfrm>
            <a:off x="457200" y="2377440"/>
            <a:ext cx="1280160" cy="822960"/>
          </a:xfrm>
          <a:prstGeom prst="rect">
            <a:avLst/>
          </a:prstGeom>
          <a:noFill/>
          <a:ln/>
        </p:spPr>
        <p:txBody>
          <a:bodyPr wrap="square" lIns="0" tIns="0" rIns="0" bIns="0" rtlCol="0" anchor="t"/>
          <a:lstStyle/>
          <a:p>
            <a:pPr algn="ctr" indent="0" marL="0">
              <a:buNone/>
            </a:pPr>
            <a:r>
              <a:rPr lang="en-US" sz="1100" dirty="0">
                <a:solidFill>
                  <a:schemeClr val="tx2"/>
                </a:solidFill>
              </a:rPr>
              <a:t>text</a:t>
            </a:r>
            <a:endParaRPr lang="en-US" sz="1100" dirty="0"/>
          </a:p>
        </p:txBody>
      </p:sp>
      <p:sp>
        <p:nvSpPr>
          <p:cNvPr id="7" name="step 2"/>
          <p:cNvSpPr/>
          <p:nvPr/>
        </p:nvSpPr>
        <p:spPr>
          <a:xfrm>
            <a:off x="1847088" y="1371600"/>
            <a:ext cx="1280160" cy="914400"/>
          </a:xfrm>
          <a:prstGeom prst="roundRect">
            <a:avLst>
              <a:gd name="adj" fmla="val 8000"/>
            </a:avLst>
          </a:prstGeom>
          <a:solidFill>
            <a:schemeClr val="accent1"/>
          </a:solidFill>
          <a:ln w="12700">
            <a:solidFill>
              <a:schemeClr val="accent1"/>
            </a:solidFill>
            <a:prstDash val="solid"/>
          </a:ln>
        </p:spPr>
      </p:sp>
      <p:sp>
        <p:nvSpPr>
          <p:cNvPr id="8" name="step label 2"/>
          <p:cNvSpPr txBox="1"/>
          <p:nvPr/>
        </p:nvSpPr>
        <p:spPr>
          <a:xfrm>
            <a:off x="1847088" y="1371600"/>
            <a:ext cx="1280160" cy="914400"/>
          </a:xfrm>
          <a:prstGeom prst="rect">
            <a:avLst/>
          </a:prstGeom>
          <a:noFill/>
          <a:ln/>
        </p:spPr>
        <p:txBody>
          <a:bodyPr wrap="square" lIns="50800" tIns="50800" rIns="50800" bIns="50800" rtlCol="0" anchor="ctr"/>
          <a:lstStyle/>
          <a:p>
            <a:pPr algn="ctr" indent="0" marL="0">
              <a:buNone/>
            </a:pPr>
            <a:r>
              <a:rPr lang="en-US" sz="1400" b="1" dirty="0">
                <a:solidFill>
                  <a:schemeClr val="bg1"/>
                </a:solidFill>
              </a:rPr>
              <a:t>Open translation</a:t>
            </a:r>
            <a:endParaRPr lang="en-US" sz="1400" dirty="0"/>
          </a:p>
        </p:txBody>
      </p:sp>
      <p:sp>
        <p:nvSpPr>
          <p:cNvPr id="9" name="step note 2"/>
          <p:cNvSpPr txBox="1"/>
          <p:nvPr/>
        </p:nvSpPr>
        <p:spPr>
          <a:xfrm>
            <a:off x="1847088" y="2377440"/>
            <a:ext cx="1280160" cy="822960"/>
          </a:xfrm>
          <a:prstGeom prst="rect">
            <a:avLst/>
          </a:prstGeom>
          <a:noFill/>
          <a:ln/>
        </p:spPr>
        <p:txBody>
          <a:bodyPr wrap="square" lIns="0" tIns="0" rIns="0" bIns="0" rtlCol="0" anchor="t"/>
          <a:lstStyle/>
          <a:p>
            <a:pPr algn="ctr" indent="0" marL="0">
              <a:buNone/>
            </a:pPr>
            <a:r>
              <a:rPr lang="en-US" sz="1100" dirty="0">
                <a:solidFill>
                  <a:schemeClr val="tx2"/>
                </a:solidFill>
              </a:rPr>
              <a:t>force, actor, act, conditions</a:t>
            </a:r>
            <a:endParaRPr lang="en-US" sz="1100" dirty="0"/>
          </a:p>
        </p:txBody>
      </p:sp>
      <p:sp>
        <p:nvSpPr>
          <p:cNvPr id="10" name="step 3"/>
          <p:cNvSpPr/>
          <p:nvPr/>
        </p:nvSpPr>
        <p:spPr>
          <a:xfrm>
            <a:off x="3236976" y="1371600"/>
            <a:ext cx="1280160" cy="914400"/>
          </a:xfrm>
          <a:prstGeom prst="roundRect">
            <a:avLst>
              <a:gd name="adj" fmla="val 8000"/>
            </a:avLst>
          </a:prstGeom>
          <a:solidFill>
            <a:schemeClr val="accent2"/>
          </a:solidFill>
          <a:ln w="12700">
            <a:solidFill>
              <a:schemeClr val="accent2"/>
            </a:solidFill>
            <a:prstDash val="solid"/>
          </a:ln>
        </p:spPr>
      </p:sp>
      <p:sp>
        <p:nvSpPr>
          <p:cNvPr id="11" name="step label 3"/>
          <p:cNvSpPr txBox="1"/>
          <p:nvPr/>
        </p:nvSpPr>
        <p:spPr>
          <a:xfrm>
            <a:off x="3236976" y="1371600"/>
            <a:ext cx="1280160" cy="914400"/>
          </a:xfrm>
          <a:prstGeom prst="rect">
            <a:avLst/>
          </a:prstGeom>
          <a:noFill/>
          <a:ln/>
        </p:spPr>
        <p:txBody>
          <a:bodyPr wrap="square" lIns="50800" tIns="50800" rIns="50800" bIns="50800" rtlCol="0" anchor="ctr"/>
          <a:lstStyle/>
          <a:p>
            <a:pPr algn="ctr" indent="0" marL="0">
              <a:buNone/>
            </a:pPr>
            <a:r>
              <a:rPr lang="en-US" sz="1400" b="1" dirty="0">
                <a:solidFill>
                  <a:schemeClr val="bg1"/>
                </a:solidFill>
              </a:rPr>
              <a:t>Checks + repair</a:t>
            </a:r>
            <a:endParaRPr lang="en-US" sz="1400" dirty="0"/>
          </a:p>
        </p:txBody>
      </p:sp>
      <p:sp>
        <p:nvSpPr>
          <p:cNvPr id="12" name="step note 3"/>
          <p:cNvSpPr txBox="1"/>
          <p:nvPr/>
        </p:nvSpPr>
        <p:spPr>
          <a:xfrm>
            <a:off x="3236976" y="2377440"/>
            <a:ext cx="1280160" cy="822960"/>
          </a:xfrm>
          <a:prstGeom prst="rect">
            <a:avLst/>
          </a:prstGeom>
          <a:noFill/>
          <a:ln/>
        </p:spPr>
        <p:txBody>
          <a:bodyPr wrap="square" lIns="0" tIns="0" rIns="0" bIns="0" rtlCol="0" anchor="t"/>
          <a:lstStyle/>
          <a:p>
            <a:pPr algn="ctr" indent="0" marL="0">
              <a:buNone/>
            </a:pPr>
            <a:r>
              <a:rPr lang="en-US" sz="1100" dirty="0">
                <a:solidFill>
                  <a:schemeClr val="tx2"/>
                </a:solidFill>
              </a:rPr>
              <a:t>ledger, grounding, verifier</a:t>
            </a:r>
            <a:endParaRPr lang="en-US" sz="1100" dirty="0"/>
          </a:p>
        </p:txBody>
      </p:sp>
      <p:sp>
        <p:nvSpPr>
          <p:cNvPr id="13" name="step 4"/>
          <p:cNvSpPr/>
          <p:nvPr/>
        </p:nvSpPr>
        <p:spPr>
          <a:xfrm>
            <a:off x="4626864" y="1371600"/>
            <a:ext cx="1280160" cy="914400"/>
          </a:xfrm>
          <a:prstGeom prst="roundRect">
            <a:avLst>
              <a:gd name="adj" fmla="val 8000"/>
            </a:avLst>
          </a:prstGeom>
          <a:solidFill>
            <a:schemeClr val="accent1"/>
          </a:solidFill>
          <a:ln w="12700">
            <a:solidFill>
              <a:schemeClr val="accent1"/>
            </a:solidFill>
            <a:prstDash val="solid"/>
          </a:ln>
        </p:spPr>
      </p:sp>
      <p:sp>
        <p:nvSpPr>
          <p:cNvPr id="14" name="step label 4"/>
          <p:cNvSpPr txBox="1"/>
          <p:nvPr/>
        </p:nvSpPr>
        <p:spPr>
          <a:xfrm>
            <a:off x="4626864" y="1371600"/>
            <a:ext cx="1280160" cy="914400"/>
          </a:xfrm>
          <a:prstGeom prst="rect">
            <a:avLst/>
          </a:prstGeom>
          <a:noFill/>
          <a:ln/>
        </p:spPr>
        <p:txBody>
          <a:bodyPr wrap="square" lIns="50800" tIns="50800" rIns="50800" bIns="50800" rtlCol="0" anchor="ctr"/>
          <a:lstStyle/>
          <a:p>
            <a:pPr algn="ctr" indent="0" marL="0">
              <a:buNone/>
            </a:pPr>
            <a:r>
              <a:rPr lang="en-US" sz="1400" b="1" dirty="0">
                <a:solidFill>
                  <a:schemeClr val="bg1"/>
                </a:solidFill>
              </a:rPr>
              <a:t>Alignment</a:t>
            </a:r>
            <a:endParaRPr lang="en-US" sz="1400" dirty="0"/>
          </a:p>
        </p:txBody>
      </p:sp>
      <p:sp>
        <p:nvSpPr>
          <p:cNvPr id="15" name="step note 4"/>
          <p:cNvSpPr txBox="1"/>
          <p:nvPr/>
        </p:nvSpPr>
        <p:spPr>
          <a:xfrm>
            <a:off x="4626864" y="2377440"/>
            <a:ext cx="1280160" cy="822960"/>
          </a:xfrm>
          <a:prstGeom prst="rect">
            <a:avLst/>
          </a:prstGeom>
          <a:noFill/>
          <a:ln/>
        </p:spPr>
        <p:txBody>
          <a:bodyPr wrap="square" lIns="0" tIns="0" rIns="0" bIns="0" rtlCol="0" anchor="t"/>
          <a:lstStyle/>
          <a:p>
            <a:pPr algn="ctr" indent="0" marL="0">
              <a:buNone/>
            </a:pPr>
            <a:r>
              <a:rPr lang="en-US" sz="1100" dirty="0">
                <a:solidFill>
                  <a:schemeClr val="tx2"/>
                </a:solidFill>
              </a:rPr>
              <a:t>same / kind_of / broader / outside / conflicts / unrelated</a:t>
            </a:r>
            <a:endParaRPr lang="en-US" sz="1100" dirty="0"/>
          </a:p>
        </p:txBody>
      </p:sp>
      <p:sp>
        <p:nvSpPr>
          <p:cNvPr id="16" name="step 5"/>
          <p:cNvSpPr/>
          <p:nvPr/>
        </p:nvSpPr>
        <p:spPr>
          <a:xfrm>
            <a:off x="6016752" y="1371600"/>
            <a:ext cx="1280160" cy="914400"/>
          </a:xfrm>
          <a:prstGeom prst="roundRect">
            <a:avLst>
              <a:gd name="adj" fmla="val 8000"/>
            </a:avLst>
          </a:prstGeom>
          <a:solidFill>
            <a:schemeClr val="accent4"/>
          </a:solidFill>
          <a:ln w="12700">
            <a:solidFill>
              <a:schemeClr val="accent4"/>
            </a:solidFill>
            <a:prstDash val="solid"/>
          </a:ln>
        </p:spPr>
      </p:sp>
      <p:sp>
        <p:nvSpPr>
          <p:cNvPr id="17" name="step label 5"/>
          <p:cNvSpPr txBox="1"/>
          <p:nvPr/>
        </p:nvSpPr>
        <p:spPr>
          <a:xfrm>
            <a:off x="6016752" y="1371600"/>
            <a:ext cx="1280160" cy="914400"/>
          </a:xfrm>
          <a:prstGeom prst="rect">
            <a:avLst/>
          </a:prstGeom>
          <a:noFill/>
          <a:ln/>
        </p:spPr>
        <p:txBody>
          <a:bodyPr wrap="square" lIns="50800" tIns="50800" rIns="50800" bIns="50800" rtlCol="0" anchor="ctr"/>
          <a:lstStyle/>
          <a:p>
            <a:pPr algn="ctr" indent="0" marL="0">
              <a:buNone/>
            </a:pPr>
            <a:r>
              <a:rPr lang="en-US" sz="1400" b="1" dirty="0">
                <a:solidFill>
                  <a:schemeClr val="bg1"/>
                </a:solidFill>
              </a:rPr>
              <a:t>ONA</a:t>
            </a:r>
            <a:endParaRPr lang="en-US" sz="1400" dirty="0"/>
          </a:p>
        </p:txBody>
      </p:sp>
      <p:sp>
        <p:nvSpPr>
          <p:cNvPr id="18" name="step note 5"/>
          <p:cNvSpPr txBox="1"/>
          <p:nvPr/>
        </p:nvSpPr>
        <p:spPr>
          <a:xfrm>
            <a:off x="6016752" y="2377440"/>
            <a:ext cx="1280160" cy="822960"/>
          </a:xfrm>
          <a:prstGeom prst="rect">
            <a:avLst/>
          </a:prstGeom>
          <a:noFill/>
          <a:ln/>
        </p:spPr>
        <p:txBody>
          <a:bodyPr wrap="square" lIns="0" tIns="0" rIns="0" bIns="0" rtlCol="0" anchor="t"/>
          <a:lstStyle/>
          <a:p>
            <a:pPr algn="ctr" indent="0" marL="0">
              <a:buNone/>
            </a:pPr>
            <a:r>
              <a:rPr lang="en-US" sz="1100" dirty="0">
                <a:solidFill>
                  <a:schemeClr val="tx2"/>
                </a:solidFill>
              </a:rPr>
              <a:t>rules + axioms, order tried 4 ways</a:t>
            </a:r>
            <a:endParaRPr lang="en-US" sz="1100" dirty="0"/>
          </a:p>
        </p:txBody>
      </p:sp>
      <p:sp>
        <p:nvSpPr>
          <p:cNvPr id="19" name="step 6"/>
          <p:cNvSpPr/>
          <p:nvPr/>
        </p:nvSpPr>
        <p:spPr>
          <a:xfrm>
            <a:off x="7406640" y="1371600"/>
            <a:ext cx="1280160" cy="914400"/>
          </a:xfrm>
          <a:prstGeom prst="roundRect">
            <a:avLst>
              <a:gd name="adj" fmla="val 8000"/>
            </a:avLst>
          </a:prstGeom>
          <a:solidFill>
            <a:schemeClr val="accent3"/>
          </a:solidFill>
          <a:ln w="12700">
            <a:solidFill>
              <a:schemeClr val="accent3"/>
            </a:solidFill>
            <a:prstDash val="solid"/>
          </a:ln>
        </p:spPr>
      </p:sp>
      <p:sp>
        <p:nvSpPr>
          <p:cNvPr id="20" name="step label 6"/>
          <p:cNvSpPr txBox="1"/>
          <p:nvPr/>
        </p:nvSpPr>
        <p:spPr>
          <a:xfrm>
            <a:off x="7406640" y="1371600"/>
            <a:ext cx="1280160" cy="914400"/>
          </a:xfrm>
          <a:prstGeom prst="rect">
            <a:avLst/>
          </a:prstGeom>
          <a:noFill/>
          <a:ln/>
        </p:spPr>
        <p:txBody>
          <a:bodyPr wrap="square" lIns="50800" tIns="50800" rIns="50800" bIns="50800" rtlCol="0" anchor="ctr"/>
          <a:lstStyle/>
          <a:p>
            <a:pPr algn="ctr" indent="0" marL="0">
              <a:buNone/>
            </a:pPr>
            <a:r>
              <a:rPr lang="en-US" sz="1400" b="1" dirty="0">
                <a:solidFill>
                  <a:schemeClr val="bg1"/>
                </a:solidFill>
              </a:rPr>
              <a:t>Label</a:t>
            </a:r>
            <a:endParaRPr lang="en-US" sz="1400" dirty="0"/>
          </a:p>
        </p:txBody>
      </p:sp>
      <p:sp>
        <p:nvSpPr>
          <p:cNvPr id="21" name="step note 6"/>
          <p:cNvSpPr txBox="1"/>
          <p:nvPr/>
        </p:nvSpPr>
        <p:spPr>
          <a:xfrm>
            <a:off x="7406640" y="2377440"/>
            <a:ext cx="1280160" cy="822960"/>
          </a:xfrm>
          <a:prstGeom prst="rect">
            <a:avLst/>
          </a:prstGeom>
          <a:noFill/>
          <a:ln/>
        </p:spPr>
        <p:txBody>
          <a:bodyPr wrap="square" lIns="0" tIns="0" rIns="0" bIns="0" rtlCol="0" anchor="t"/>
          <a:lstStyle/>
          <a:p>
            <a:pPr algn="ctr" indent="0" marL="0">
              <a:buNone/>
            </a:pPr>
            <a:r>
              <a:rPr lang="en-US" sz="1100" dirty="0">
                <a:solidFill>
                  <a:schemeClr val="tx2"/>
                </a:solidFill>
              </a:rPr>
              <a:t>from frequency</a:t>
            </a:r>
            <a:endParaRPr lang="en-US" sz="1100" dirty="0"/>
          </a:p>
        </p:txBody>
      </p:sp>
      <p:sp>
        <p:nvSpPr>
          <p:cNvPr id="22" name="pipeline bullets"/>
          <p:cNvSpPr txBox="1"/>
          <p:nvPr/>
        </p:nvSpPr>
        <p:spPr>
          <a:xfrm>
            <a:off x="457200" y="3383280"/>
            <a:ext cx="822960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The translation is hypothesis-independent: the same open format is applied to the contract and to the claim</a:t>
            </a:r>
            <a:endParaRPr lang="en-US" sz="1400" dirty="0"/>
          </a:p>
          <a:p>
            <a:pPr marL="342900" indent="-342900">
              <a:spcAft>
                <a:spcPts val="600"/>
              </a:spcAft>
              <a:buSzPct val="100000"/>
              <a:buChar char="•"/>
            </a:pPr>
            <a:r>
              <a:rPr lang="en-US" sz="1400" dirty="0">
                <a:solidFill>
                  <a:schemeClr val="tx1"/>
                </a:solidFill>
              </a:rPr>
              <a:t>Only the alignment step compares them, and it is logged</a:t>
            </a:r>
            <a:endParaRPr lang="en-US" sz="1400" dirty="0"/>
          </a:p>
          <a:p>
            <a:pPr marL="342900" indent="-342900">
              <a:spcAft>
                <a:spcPts val="600"/>
              </a:spcAft>
              <a:buSzPct val="100000"/>
              <a:buChar char="•"/>
            </a:pPr>
            <a:r>
              <a:rPr lang="en-US" sz="1400" dirty="0">
                <a:solidFill>
                  <a:schemeClr val="tx1"/>
                </a:solidFill>
              </a:rPr>
              <a:t>Generic axioms: Obligated implies Permitted, Prohibited denies Permitted, and so on</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Lossless translation: what that means</a:t>
            </a:r>
            <a:endParaRPr lang="en-US" sz="3000" dirty="0"/>
          </a:p>
        </p:txBody>
      </p:sp>
      <p:sp>
        <p:nvSpPr>
          <p:cNvPr id="4" name="clause label"/>
          <p:cNvSpPr txBox="1"/>
          <p:nvPr/>
        </p:nvSpPr>
        <p:spPr>
          <a:xfrm>
            <a:off x="457200" y="1188720"/>
            <a:ext cx="3840480" cy="274320"/>
          </a:xfrm>
          <a:prstGeom prst="rect">
            <a:avLst/>
          </a:prstGeom>
          <a:noFill/>
          <a:ln/>
        </p:spPr>
        <p:txBody>
          <a:bodyPr wrap="square" lIns="0" tIns="0" rIns="0" bIns="0" rtlCol="0" anchor="ctr"/>
          <a:lstStyle/>
          <a:p>
            <a:pPr indent="0" marL="0">
              <a:buNone/>
            </a:pPr>
            <a:r>
              <a:rPr lang="en-US" sz="1200" b="1" dirty="0">
                <a:solidFill>
                  <a:schemeClr val="accent1"/>
                </a:solidFill>
              </a:rPr>
              <a:t>Clause</a:t>
            </a:r>
            <a:endParaRPr lang="en-US" sz="1200" dirty="0"/>
          </a:p>
        </p:txBody>
      </p:sp>
      <p:sp>
        <p:nvSpPr>
          <p:cNvPr id="5" name="clause text"/>
          <p:cNvSpPr txBox="1"/>
          <p:nvPr/>
        </p:nvSpPr>
        <p:spPr>
          <a:xfrm>
            <a:off x="457200" y="1463040"/>
            <a:ext cx="3840480" cy="1463040"/>
          </a:xfrm>
          <a:prstGeom prst="rect">
            <a:avLst/>
          </a:prstGeom>
          <a:noFill/>
          <a:ln/>
        </p:spPr>
        <p:txBody>
          <a:bodyPr wrap="square" lIns="0" tIns="0" rIns="0" bIns="0" rtlCol="0" anchor="t"/>
          <a:lstStyle/>
          <a:p>
            <a:pPr indent="0" marL="0">
              <a:buNone/>
            </a:pPr>
            <a:r>
              <a:rPr lang="en-US" sz="1400" i="1" dirty="0">
                <a:solidFill>
                  <a:schemeClr val="tx1"/>
                </a:solidFill>
              </a:rPr>
              <a:t>“Receiving Party shall notify Disclosing Party in case Receiving Party is required by law, regulation or judicial process to disclose any Confidential Information.”</a:t>
            </a:r>
            <a:endParaRPr lang="en-US" sz="1400" dirty="0"/>
          </a:p>
        </p:txBody>
      </p:sp>
      <p:sp>
        <p:nvSpPr>
          <p:cNvPr id="6" name="narsese label"/>
          <p:cNvSpPr txBox="1"/>
          <p:nvPr/>
        </p:nvSpPr>
        <p:spPr>
          <a:xfrm>
            <a:off x="4572000" y="1188720"/>
            <a:ext cx="4114800" cy="274320"/>
          </a:xfrm>
          <a:prstGeom prst="rect">
            <a:avLst/>
          </a:prstGeom>
          <a:noFill/>
          <a:ln/>
        </p:spPr>
        <p:txBody>
          <a:bodyPr wrap="square" lIns="0" tIns="0" rIns="0" bIns="0" rtlCol="0" anchor="ctr"/>
          <a:lstStyle/>
          <a:p>
            <a:pPr indent="0" marL="0">
              <a:buNone/>
            </a:pPr>
            <a:r>
              <a:rPr lang="en-US" sz="1200" b="1" dirty="0">
                <a:solidFill>
                  <a:schemeClr val="accent1"/>
                </a:solidFill>
              </a:rPr>
              <a:t>Narsese (OR kept as OR)</a:t>
            </a:r>
            <a:endParaRPr lang="en-US" sz="1200" dirty="0"/>
          </a:p>
        </p:txBody>
      </p:sp>
      <p:sp>
        <p:nvSpPr>
          <p:cNvPr id="7" name="narsese text"/>
          <p:cNvSpPr txBox="1"/>
          <p:nvPr/>
        </p:nvSpPr>
        <p:spPr>
          <a:xfrm>
            <a:off x="4572000" y="1463040"/>
            <a:ext cx="4114800" cy="1737360"/>
          </a:xfrm>
          <a:prstGeom prst="rect">
            <a:avLst/>
          </a:prstGeom>
          <a:solidFill>
            <a:schemeClr val="bg2"/>
          </a:solidFill>
          <a:ln/>
        </p:spPr>
        <p:txBody>
          <a:bodyPr wrap="square" lIns="101600" tIns="101600" rIns="101600" bIns="10160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&lt;(*, (*, ReceivingParty, notify), (*, object_DisclosingParty, (||, &lt;ReceivingParty_RequiredByLaw --&gt; Holds&gt;, (||, &lt;ReceivingParty_RequiredByRegulation --&gt; Holds&gt;, &lt;ReceivingParty_RequiredByJudicialProcess --&gt; Holds&gt;)))) --&gt; Obligated&gt;</a:t>
            </a:r>
            <a:endParaRPr lang="en-US" sz="1100" dirty="0"/>
          </a:p>
        </p:txBody>
      </p:sp>
      <p:sp>
        <p:nvSpPr>
          <p:cNvPr id="8" name="lossless bullets"/>
          <p:cNvSpPr txBox="1"/>
          <p:nvPr/>
        </p:nvSpPr>
        <p:spPr>
          <a:xfrm>
            <a:off x="457200" y="3474720"/>
            <a:ext cx="822960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Hand-written fixes are not allowed: the same rules apply to any dataset</a:t>
            </a:r>
            <a:endParaRPr lang="en-US" sz="1400" dirty="0"/>
          </a:p>
          <a:p>
            <a:pPr marL="342900" indent="-342900">
              <a:spcAft>
                <a:spcPts val="600"/>
              </a:spcAft>
              <a:buSzPct val="100000"/>
              <a:buChar char="•"/>
            </a:pPr>
            <a:r>
              <a:rPr lang="en-US" sz="1400" dirty="0">
                <a:solidFill>
                  <a:schemeClr val="tx1"/>
                </a:solidFill>
              </a:rPr>
              <a:t>Every word of the clause must land in a field, or be listed as ignored with a reason</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How we check the translation</a:t>
            </a:r>
            <a:endParaRPr lang="en-US" sz="3000" dirty="0"/>
          </a:p>
        </p:txBody>
      </p:sp>
      <p:sp>
        <p:nvSpPr>
          <p:cNvPr id="4" name="ledger card"/>
          <p:cNvSpPr/>
          <p:nvPr/>
        </p:nvSpPr>
        <p:spPr>
          <a:xfrm>
            <a:off x="457200" y="1188720"/>
            <a:ext cx="2651760" cy="1554480"/>
          </a:xfrm>
          <a:prstGeom prst="roundRect">
            <a:avLst>
              <a:gd name="adj" fmla="val 4706"/>
            </a:avLst>
          </a:prstGeom>
          <a:solidFill>
            <a:schemeClr val="bg2"/>
          </a:solidFill>
          <a:ln w="12700">
            <a:solidFill>
              <a:schemeClr val="bg2"/>
            </a:solidFill>
            <a:prstDash val="solid"/>
          </a:ln>
        </p:spPr>
      </p:sp>
      <p:sp>
        <p:nvSpPr>
          <p:cNvPr id="5" name="ledger dot"/>
          <p:cNvSpPr/>
          <p:nvPr/>
        </p:nvSpPr>
        <p:spPr>
          <a:xfrm>
            <a:off x="640080" y="1371600"/>
            <a:ext cx="128016" cy="128016"/>
          </a:xfrm>
          <a:prstGeom prst="ellipse">
            <a:avLst/>
          </a:prstGeom>
          <a:solidFill>
            <a:schemeClr val="accent1"/>
          </a:solidFill>
          <a:ln w="12700">
            <a:solidFill>
              <a:schemeClr val="accent1"/>
            </a:solidFill>
            <a:prstDash val="solid"/>
          </a:ln>
        </p:spPr>
      </p:sp>
      <p:sp>
        <p:nvSpPr>
          <p:cNvPr id="6" name="ledger head"/>
          <p:cNvSpPr txBox="1"/>
          <p:nvPr/>
        </p:nvSpPr>
        <p:spPr>
          <a:xfrm>
            <a:off x="868680" y="1280160"/>
            <a:ext cx="2103120" cy="320040"/>
          </a:xfrm>
          <a:prstGeom prst="rect">
            <a:avLst/>
          </a:prstGeom>
          <a:noFill/>
          <a:ln/>
        </p:spPr>
        <p:txBody>
          <a:bodyPr wrap="square" lIns="0" tIns="0" rIns="0" bIns="0" rtlCol="0" anchor="ctr"/>
          <a:lstStyle/>
          <a:p>
            <a:pPr indent="0" marL="0">
              <a:buNone/>
            </a:pPr>
            <a:r>
              <a:rPr lang="en-US" sz="1500" b="1" dirty="0">
                <a:solidFill>
                  <a:schemeClr val="tx1"/>
                </a:solidFill>
              </a:rPr>
              <a:t>Word ledger</a:t>
            </a:r>
            <a:endParaRPr lang="en-US" sz="1500" dirty="0"/>
          </a:p>
        </p:txBody>
      </p:sp>
      <p:sp>
        <p:nvSpPr>
          <p:cNvPr id="7" name="ledger body"/>
          <p:cNvSpPr txBox="1"/>
          <p:nvPr/>
        </p:nvSpPr>
        <p:spPr>
          <a:xfrm>
            <a:off x="640080" y="1645920"/>
            <a:ext cx="2286000" cy="1005840"/>
          </a:xfrm>
          <a:prstGeom prst="rect">
            <a:avLst/>
          </a:prstGeom>
          <a:noFill/>
          <a:ln/>
        </p:spPr>
        <p:txBody>
          <a:bodyPr wrap="square" lIns="0" tIns="0" rIns="0" bIns="0" rtlCol="0" anchor="t"/>
          <a:lstStyle/>
          <a:p>
            <a:pPr indent="0" marL="0">
              <a:buNone/>
            </a:pPr>
            <a:r>
              <a:rPr lang="en-US" sz="1300" dirty="0">
                <a:solidFill>
                  <a:schemeClr val="tx2"/>
                </a:solidFill>
              </a:rPr>
              <a:t>Every content word must be accounted for in a field.</a:t>
            </a:r>
            <a:endParaRPr lang="en-US" sz="1300" dirty="0"/>
          </a:p>
        </p:txBody>
      </p:sp>
      <p:sp>
        <p:nvSpPr>
          <p:cNvPr id="8" name="ground card"/>
          <p:cNvSpPr/>
          <p:nvPr/>
        </p:nvSpPr>
        <p:spPr>
          <a:xfrm>
            <a:off x="3246120" y="1188720"/>
            <a:ext cx="2651760" cy="1554480"/>
          </a:xfrm>
          <a:prstGeom prst="roundRect">
            <a:avLst>
              <a:gd name="adj" fmla="val 4706"/>
            </a:avLst>
          </a:prstGeom>
          <a:solidFill>
            <a:schemeClr val="bg2"/>
          </a:solidFill>
          <a:ln w="12700">
            <a:solidFill>
              <a:schemeClr val="bg2"/>
            </a:solidFill>
            <a:prstDash val="solid"/>
          </a:ln>
        </p:spPr>
      </p:sp>
      <p:sp>
        <p:nvSpPr>
          <p:cNvPr id="9" name="ground dot"/>
          <p:cNvSpPr/>
          <p:nvPr/>
        </p:nvSpPr>
        <p:spPr>
          <a:xfrm>
            <a:off x="3429000" y="1371600"/>
            <a:ext cx="128016" cy="128016"/>
          </a:xfrm>
          <a:prstGeom prst="ellipse">
            <a:avLst/>
          </a:prstGeom>
          <a:solidFill>
            <a:schemeClr val="accent2"/>
          </a:solidFill>
          <a:ln w="12700">
            <a:solidFill>
              <a:schemeClr val="accent2"/>
            </a:solidFill>
            <a:prstDash val="solid"/>
          </a:ln>
        </p:spPr>
      </p:sp>
      <p:sp>
        <p:nvSpPr>
          <p:cNvPr id="10" name="ground head"/>
          <p:cNvSpPr txBox="1"/>
          <p:nvPr/>
        </p:nvSpPr>
        <p:spPr>
          <a:xfrm>
            <a:off x="3657600" y="1280160"/>
            <a:ext cx="2103120" cy="320040"/>
          </a:xfrm>
          <a:prstGeom prst="rect">
            <a:avLst/>
          </a:prstGeom>
          <a:noFill/>
          <a:ln/>
        </p:spPr>
        <p:txBody>
          <a:bodyPr wrap="square" lIns="0" tIns="0" rIns="0" bIns="0" rtlCol="0" anchor="ctr"/>
          <a:lstStyle/>
          <a:p>
            <a:pPr indent="0" marL="0">
              <a:buNone/>
            </a:pPr>
            <a:r>
              <a:rPr lang="en-US" sz="1500" b="1" dirty="0">
                <a:solidFill>
                  <a:schemeClr val="tx1"/>
                </a:solidFill>
              </a:rPr>
              <a:t>Grounding</a:t>
            </a:r>
            <a:endParaRPr lang="en-US" sz="1500" dirty="0"/>
          </a:p>
        </p:txBody>
      </p:sp>
      <p:sp>
        <p:nvSpPr>
          <p:cNvPr id="11" name="ground body"/>
          <p:cNvSpPr txBox="1"/>
          <p:nvPr/>
        </p:nvSpPr>
        <p:spPr>
          <a:xfrm>
            <a:off x="3429000" y="1645920"/>
            <a:ext cx="2286000" cy="1005840"/>
          </a:xfrm>
          <a:prstGeom prst="rect">
            <a:avLst/>
          </a:prstGeom>
          <a:noFill/>
          <a:ln/>
        </p:spPr>
        <p:txBody>
          <a:bodyPr wrap="square" lIns="0" tIns="0" rIns="0" bIns="0" rtlCol="0" anchor="t"/>
          <a:lstStyle/>
          <a:p>
            <a:pPr indent="0" marL="0">
              <a:buNone/>
            </a:pPr>
            <a:r>
              <a:rPr lang="en-US" sz="1300" dirty="0">
                <a:solidFill>
                  <a:schemeClr val="tx2"/>
                </a:solidFill>
              </a:rPr>
              <a:t>Every quoted piece must appear verbatim in the clause.</a:t>
            </a:r>
            <a:endParaRPr lang="en-US" sz="1300" dirty="0"/>
          </a:p>
        </p:txBody>
      </p:sp>
      <p:sp>
        <p:nvSpPr>
          <p:cNvPr id="12" name="audit card"/>
          <p:cNvSpPr/>
          <p:nvPr/>
        </p:nvSpPr>
        <p:spPr>
          <a:xfrm>
            <a:off x="6035040" y="1188720"/>
            <a:ext cx="2651760" cy="1554480"/>
          </a:xfrm>
          <a:prstGeom prst="roundRect">
            <a:avLst>
              <a:gd name="adj" fmla="val 4706"/>
            </a:avLst>
          </a:prstGeom>
          <a:solidFill>
            <a:schemeClr val="bg2"/>
          </a:solidFill>
          <a:ln w="12700">
            <a:solidFill>
              <a:schemeClr val="bg2"/>
            </a:solidFill>
            <a:prstDash val="solid"/>
          </a:ln>
        </p:spPr>
      </p:sp>
      <p:sp>
        <p:nvSpPr>
          <p:cNvPr id="13" name="audit dot"/>
          <p:cNvSpPr/>
          <p:nvPr/>
        </p:nvSpPr>
        <p:spPr>
          <a:xfrm>
            <a:off x="6217920" y="1371600"/>
            <a:ext cx="128016" cy="128016"/>
          </a:xfrm>
          <a:prstGeom prst="ellipse">
            <a:avLst/>
          </a:prstGeom>
          <a:solidFill>
            <a:schemeClr val="accent3"/>
          </a:solidFill>
          <a:ln w="12700">
            <a:solidFill>
              <a:schemeClr val="accent3"/>
            </a:solidFill>
            <a:prstDash val="solid"/>
          </a:ln>
        </p:spPr>
      </p:sp>
      <p:sp>
        <p:nvSpPr>
          <p:cNvPr id="14" name="audit head"/>
          <p:cNvSpPr txBox="1"/>
          <p:nvPr/>
        </p:nvSpPr>
        <p:spPr>
          <a:xfrm>
            <a:off x="6446520" y="1280160"/>
            <a:ext cx="2103120" cy="320040"/>
          </a:xfrm>
          <a:prstGeom prst="rect">
            <a:avLst/>
          </a:prstGeom>
          <a:noFill/>
          <a:ln/>
        </p:spPr>
        <p:txBody>
          <a:bodyPr wrap="square" lIns="0" tIns="0" rIns="0" bIns="0" rtlCol="0" anchor="ctr"/>
          <a:lstStyle/>
          <a:p>
            <a:pPr indent="0" marL="0">
              <a:buNone/>
            </a:pPr>
            <a:r>
              <a:rPr lang="en-US" sz="1500" b="1" dirty="0">
                <a:solidFill>
                  <a:schemeClr val="tx1"/>
                </a:solidFill>
              </a:rPr>
              <a:t>Semantic audit</a:t>
            </a:r>
            <a:endParaRPr lang="en-US" sz="1500" dirty="0"/>
          </a:p>
        </p:txBody>
      </p:sp>
      <p:sp>
        <p:nvSpPr>
          <p:cNvPr id="15" name="audit body"/>
          <p:cNvSpPr txBox="1"/>
          <p:nvPr/>
        </p:nvSpPr>
        <p:spPr>
          <a:xfrm>
            <a:off x="6217920" y="1645920"/>
            <a:ext cx="2286000" cy="1005840"/>
          </a:xfrm>
          <a:prstGeom prst="rect">
            <a:avLst/>
          </a:prstGeom>
          <a:noFill/>
          <a:ln/>
        </p:spPr>
        <p:txBody>
          <a:bodyPr wrap="square" lIns="0" tIns="0" rIns="0" bIns="0" rtlCol="0" anchor="t"/>
          <a:lstStyle/>
          <a:p>
            <a:pPr indent="0" marL="0">
              <a:buNone/>
            </a:pPr>
            <a:r>
              <a:rPr lang="en-US" sz="1300" dirty="0">
                <a:solidFill>
                  <a:schemeClr val="tx2"/>
                </a:solidFill>
              </a:rPr>
              <a:t>Detects reversed modality, e.g. a permission written as a ban.</a:t>
            </a:r>
            <a:endParaRPr lang="en-US" sz="1300" dirty="0"/>
          </a:p>
        </p:txBody>
      </p:sp>
      <p:sp>
        <p:nvSpPr>
          <p:cNvPr id="16" name="verifier card"/>
          <p:cNvSpPr/>
          <p:nvPr/>
        </p:nvSpPr>
        <p:spPr>
          <a:xfrm>
            <a:off x="457200" y="2926080"/>
            <a:ext cx="2651760" cy="1554480"/>
          </a:xfrm>
          <a:prstGeom prst="roundRect">
            <a:avLst>
              <a:gd name="adj" fmla="val 4706"/>
            </a:avLst>
          </a:prstGeom>
          <a:solidFill>
            <a:schemeClr val="bg2"/>
          </a:solidFill>
          <a:ln w="12700">
            <a:solidFill>
              <a:schemeClr val="bg2"/>
            </a:solidFill>
            <a:prstDash val="solid"/>
          </a:ln>
        </p:spPr>
      </p:sp>
      <p:sp>
        <p:nvSpPr>
          <p:cNvPr id="17" name="verifier dot"/>
          <p:cNvSpPr/>
          <p:nvPr/>
        </p:nvSpPr>
        <p:spPr>
          <a:xfrm>
            <a:off x="640080" y="3108960"/>
            <a:ext cx="128016" cy="128016"/>
          </a:xfrm>
          <a:prstGeom prst="ellipse">
            <a:avLst/>
          </a:prstGeom>
          <a:solidFill>
            <a:schemeClr val="accent4"/>
          </a:solidFill>
          <a:ln w="12700">
            <a:solidFill>
              <a:schemeClr val="accent4"/>
            </a:solidFill>
            <a:prstDash val="solid"/>
          </a:ln>
        </p:spPr>
      </p:sp>
      <p:sp>
        <p:nvSpPr>
          <p:cNvPr id="18" name="verifier head"/>
          <p:cNvSpPr txBox="1"/>
          <p:nvPr/>
        </p:nvSpPr>
        <p:spPr>
          <a:xfrm>
            <a:off x="868680" y="3017520"/>
            <a:ext cx="2103120" cy="320040"/>
          </a:xfrm>
          <a:prstGeom prst="rect">
            <a:avLst/>
          </a:prstGeom>
          <a:noFill/>
          <a:ln/>
        </p:spPr>
        <p:txBody>
          <a:bodyPr wrap="square" lIns="0" tIns="0" rIns="0" bIns="0" rtlCol="0" anchor="ctr"/>
          <a:lstStyle/>
          <a:p>
            <a:pPr indent="0" marL="0">
              <a:buNone/>
            </a:pPr>
            <a:r>
              <a:rPr lang="en-US" sz="1500" b="1" dirty="0">
                <a:solidFill>
                  <a:schemeClr val="tx1"/>
                </a:solidFill>
              </a:rPr>
              <a:t>AI verifier</a:t>
            </a:r>
            <a:endParaRPr lang="en-US" sz="1500" dirty="0"/>
          </a:p>
        </p:txBody>
      </p:sp>
      <p:sp>
        <p:nvSpPr>
          <p:cNvPr id="19" name="verifier body"/>
          <p:cNvSpPr txBox="1"/>
          <p:nvPr/>
        </p:nvSpPr>
        <p:spPr>
          <a:xfrm>
            <a:off x="640080" y="3383280"/>
            <a:ext cx="2286000" cy="1005840"/>
          </a:xfrm>
          <a:prstGeom prst="rect">
            <a:avLst/>
          </a:prstGeom>
          <a:noFill/>
          <a:ln/>
        </p:spPr>
        <p:txBody>
          <a:bodyPr wrap="square" lIns="0" tIns="0" rIns="0" bIns="0" rtlCol="0" anchor="t"/>
          <a:lstStyle/>
          <a:p>
            <a:pPr indent="0" marL="0">
              <a:buNone/>
            </a:pPr>
            <a:r>
              <a:rPr lang="en-US" sz="1300" dirty="0">
                <a:solidFill>
                  <a:schemeClr val="tx2"/>
                </a:solidFill>
              </a:rPr>
              <a:t>A second model reads the English rendering and flags missing, added or reversed meaning.</a:t>
            </a:r>
            <a:endParaRPr lang="en-US" sz="1300" dirty="0"/>
          </a:p>
        </p:txBody>
      </p:sp>
      <p:sp>
        <p:nvSpPr>
          <p:cNvPr id="20" name="repair card"/>
          <p:cNvSpPr/>
          <p:nvPr/>
        </p:nvSpPr>
        <p:spPr>
          <a:xfrm>
            <a:off x="3246120" y="2926080"/>
            <a:ext cx="2651760" cy="1554480"/>
          </a:xfrm>
          <a:prstGeom prst="roundRect">
            <a:avLst>
              <a:gd name="adj" fmla="val 4706"/>
            </a:avLst>
          </a:prstGeom>
          <a:solidFill>
            <a:schemeClr val="bg2"/>
          </a:solidFill>
          <a:ln w="12700">
            <a:solidFill>
              <a:schemeClr val="bg2"/>
            </a:solidFill>
            <a:prstDash val="solid"/>
          </a:ln>
        </p:spPr>
      </p:sp>
      <p:sp>
        <p:nvSpPr>
          <p:cNvPr id="21" name="repair dot"/>
          <p:cNvSpPr/>
          <p:nvPr/>
        </p:nvSpPr>
        <p:spPr>
          <a:xfrm>
            <a:off x="3429000" y="3108960"/>
            <a:ext cx="128016" cy="128016"/>
          </a:xfrm>
          <a:prstGeom prst="ellipse">
            <a:avLst/>
          </a:prstGeom>
          <a:solidFill>
            <a:schemeClr val="accent5"/>
          </a:solidFill>
          <a:ln w="12700">
            <a:solidFill>
              <a:schemeClr val="accent5"/>
            </a:solidFill>
            <a:prstDash val="solid"/>
          </a:ln>
        </p:spPr>
      </p:sp>
      <p:sp>
        <p:nvSpPr>
          <p:cNvPr id="22" name="repair head"/>
          <p:cNvSpPr txBox="1"/>
          <p:nvPr/>
        </p:nvSpPr>
        <p:spPr>
          <a:xfrm>
            <a:off x="3657600" y="3017520"/>
            <a:ext cx="2103120" cy="320040"/>
          </a:xfrm>
          <a:prstGeom prst="rect">
            <a:avLst/>
          </a:prstGeom>
          <a:noFill/>
          <a:ln/>
        </p:spPr>
        <p:txBody>
          <a:bodyPr wrap="square" lIns="0" tIns="0" rIns="0" bIns="0" rtlCol="0" anchor="ctr"/>
          <a:lstStyle/>
          <a:p>
            <a:pPr indent="0" marL="0">
              <a:buNone/>
            </a:pPr>
            <a:r>
              <a:rPr lang="en-US" sz="1500" b="1" dirty="0">
                <a:solidFill>
                  <a:schemeClr val="tx1"/>
                </a:solidFill>
              </a:rPr>
              <a:t>Repair loop</a:t>
            </a:r>
            <a:endParaRPr lang="en-US" sz="1500" dirty="0"/>
          </a:p>
        </p:txBody>
      </p:sp>
      <p:sp>
        <p:nvSpPr>
          <p:cNvPr id="23" name="repair body"/>
          <p:cNvSpPr txBox="1"/>
          <p:nvPr/>
        </p:nvSpPr>
        <p:spPr>
          <a:xfrm>
            <a:off x="3429000" y="3383280"/>
            <a:ext cx="2286000" cy="1005840"/>
          </a:xfrm>
          <a:prstGeom prst="rect">
            <a:avLst/>
          </a:prstGeom>
          <a:noFill/>
          <a:ln/>
        </p:spPr>
        <p:txBody>
          <a:bodyPr wrap="square" lIns="0" tIns="0" rIns="0" bIns="0" rtlCol="0" anchor="t"/>
          <a:lstStyle/>
          <a:p>
            <a:pPr indent="0" marL="0">
              <a:buNone/>
            </a:pPr>
            <a:r>
              <a:rPr lang="en-US" sz="1300" dirty="0">
                <a:solidFill>
                  <a:schemeClr val="tx2"/>
                </a:solidFill>
              </a:rPr>
              <a:t>Flagged problems go back to the translator for up to 2 rounds.</a:t>
            </a:r>
            <a:endParaRPr lang="en-US" sz="1300" dirty="0"/>
          </a:p>
        </p:txBody>
      </p:sp>
      <p:sp>
        <p:nvSpPr>
          <p:cNvPr id="24" name="human card"/>
          <p:cNvSpPr/>
          <p:nvPr/>
        </p:nvSpPr>
        <p:spPr>
          <a:xfrm>
            <a:off x="6035040" y="2926080"/>
            <a:ext cx="2651760" cy="1554480"/>
          </a:xfrm>
          <a:prstGeom prst="roundRect">
            <a:avLst>
              <a:gd name="adj" fmla="val 4706"/>
            </a:avLst>
          </a:prstGeom>
          <a:solidFill>
            <a:schemeClr val="bg2"/>
          </a:solidFill>
          <a:ln w="12700">
            <a:solidFill>
              <a:schemeClr val="bg2"/>
            </a:solidFill>
            <a:prstDash val="solid"/>
          </a:ln>
        </p:spPr>
      </p:sp>
      <p:sp>
        <p:nvSpPr>
          <p:cNvPr id="25" name="human dot"/>
          <p:cNvSpPr/>
          <p:nvPr/>
        </p:nvSpPr>
        <p:spPr>
          <a:xfrm>
            <a:off x="6217920" y="3108960"/>
            <a:ext cx="128016" cy="128016"/>
          </a:xfrm>
          <a:prstGeom prst="ellipse">
            <a:avLst/>
          </a:prstGeom>
          <a:solidFill>
            <a:schemeClr val="accent1"/>
          </a:solidFill>
          <a:ln w="12700">
            <a:solidFill>
              <a:schemeClr val="accent1"/>
            </a:solidFill>
            <a:prstDash val="solid"/>
          </a:ln>
        </p:spPr>
      </p:sp>
      <p:sp>
        <p:nvSpPr>
          <p:cNvPr id="26" name="human head"/>
          <p:cNvSpPr txBox="1"/>
          <p:nvPr/>
        </p:nvSpPr>
        <p:spPr>
          <a:xfrm>
            <a:off x="6446520" y="3017520"/>
            <a:ext cx="2103120" cy="320040"/>
          </a:xfrm>
          <a:prstGeom prst="rect">
            <a:avLst/>
          </a:prstGeom>
          <a:noFill/>
          <a:ln/>
        </p:spPr>
        <p:txBody>
          <a:bodyPr wrap="square" lIns="0" tIns="0" rIns="0" bIns="0" rtlCol="0" anchor="ctr"/>
          <a:lstStyle/>
          <a:p>
            <a:pPr indent="0" marL="0">
              <a:buNone/>
            </a:pPr>
            <a:r>
              <a:rPr lang="en-US" sz="1500" b="1" dirty="0">
                <a:solidFill>
                  <a:schemeClr val="tx1"/>
                </a:solidFill>
              </a:rPr>
              <a:t>Human check</a:t>
            </a:r>
            <a:endParaRPr lang="en-US" sz="1500" dirty="0"/>
          </a:p>
        </p:txBody>
      </p:sp>
      <p:sp>
        <p:nvSpPr>
          <p:cNvPr id="27" name="human body"/>
          <p:cNvSpPr txBox="1"/>
          <p:nvPr/>
        </p:nvSpPr>
        <p:spPr>
          <a:xfrm>
            <a:off x="6217920" y="3383280"/>
            <a:ext cx="2286000" cy="1005840"/>
          </a:xfrm>
          <a:prstGeom prst="rect">
            <a:avLst/>
          </a:prstGeom>
          <a:noFill/>
          <a:ln/>
        </p:spPr>
        <p:txBody>
          <a:bodyPr wrap="square" lIns="0" tIns="0" rIns="0" bIns="0" rtlCol="0" anchor="t"/>
          <a:lstStyle/>
          <a:p>
            <a:pPr indent="0" marL="0">
              <a:buNone/>
            </a:pPr>
            <a:r>
              <a:rPr lang="en-US" sz="1300" dirty="0">
                <a:solidFill>
                  <a:schemeClr val="tx2"/>
                </a:solidFill>
              </a:rPr>
              <a:t>34 clauses + 14 claims in a tick sheet (translation_check_sheet.xlsx).</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Results so far</a:t>
            </a:r>
            <a:endParaRPr lang="en-US" sz="3000" dirty="0"/>
          </a:p>
        </p:txBody>
      </p:sp>
      <p:graphicFrame>
        <p:nvGraphicFramePr>
          <p:cNvPr id="4" name="results chart" descr=""/>
          <p:cNvGraphicFramePr/>
          <p:nvPr/>
        </p:nvGraphicFramePr>
        <p:xfrm>
          <a:off x="457200" y="1097280"/>
          <a:ext cx="8229600" cy="3108960"/>
        </p:xfrm>
        <a:graphic xmlns:a="http://schemas.openxmlformats.org/drawingml/2006/main">
          <a:graphicData uri="http://schemas.openxmlformats.org/drawingml/2006/chart">
            <c:chart xmlns:c="http://schemas.openxmlformats.org/drawingml/2006/chart" r:id="rId1"/>
          </a:graphicData>
        </a:graphic>
      </p:graphicFrame>
      <p:sp>
        <p:nvSpPr>
          <p:cNvPr id="5" name="chart caption"/>
          <p:cNvSpPr txBox="1"/>
          <p:nvPr/>
        </p:nvSpPr>
        <p:spPr>
          <a:xfrm>
            <a:off x="457200" y="4297680"/>
            <a:ext cx="8229600" cy="457200"/>
          </a:xfrm>
          <a:prstGeom prst="rect">
            <a:avLst/>
          </a:prstGeom>
          <a:noFill/>
          <a:ln/>
        </p:spPr>
        <p:txBody>
          <a:bodyPr wrap="square" lIns="0" tIns="0" rIns="0" bIns="0" rtlCol="0" anchor="ctr"/>
          <a:lstStyle/>
          <a:p>
            <a:pPr indent="0" marL="0">
              <a:buNone/>
            </a:pPr>
            <a:r>
              <a:rPr lang="en-US" sz="1100" dirty="0">
                <a:solidFill>
                  <a:schemeClr val="tx2"/>
                </a:solidFill>
              </a:rPr>
              <a:t>Teal: rows we tuned on (optimistic). Grey / red: fresh rows. Amber: current development run. Fresh15 pipeline score used the old ONA encoding.</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What the numbers really say</a:t>
            </a:r>
            <a:endParaRPr lang="en-US" sz="3000" dirty="0"/>
          </a:p>
        </p:txBody>
      </p:sp>
      <p:sp>
        <p:nvSpPr>
          <p:cNvPr id="4" name="dev number"/>
          <p:cNvSpPr txBox="1"/>
          <p:nvPr/>
        </p:nvSpPr>
        <p:spPr>
          <a:xfrm>
            <a:off x="457200" y="1188720"/>
            <a:ext cx="2560320" cy="82296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82%</a:t>
            </a:r>
            <a:endParaRPr lang="en-US" sz="4800" dirty="0"/>
          </a:p>
        </p:txBody>
      </p:sp>
      <p:sp>
        <p:nvSpPr>
          <p:cNvPr id="5" name="dev label"/>
          <p:cNvSpPr txBox="1"/>
          <p:nvPr/>
        </p:nvSpPr>
        <p:spPr>
          <a:xfrm>
            <a:off x="457200" y="2011680"/>
            <a:ext cx="2560320" cy="548640"/>
          </a:xfrm>
          <a:prstGeom prst="rect">
            <a:avLst/>
          </a:prstGeom>
          <a:noFill/>
          <a:ln/>
        </p:spPr>
        <p:txBody>
          <a:bodyPr wrap="square" lIns="0" tIns="0" rIns="0" bIns="0" rtlCol="0" anchor="t"/>
          <a:lstStyle/>
          <a:p>
            <a:pPr indent="0" marL="0">
              <a:buNone/>
            </a:pPr>
            <a:r>
              <a:rPr lang="en-US" sz="1300" dirty="0">
                <a:solidFill>
                  <a:schemeClr val="tx2"/>
                </a:solidFill>
              </a:rPr>
              <a:t>on development rows we tuned against (49 / 60)</a:t>
            </a:r>
            <a:endParaRPr lang="en-US" sz="1300" dirty="0"/>
          </a:p>
        </p:txBody>
      </p:sp>
      <p:sp>
        <p:nvSpPr>
          <p:cNvPr id="6" name="plain number"/>
          <p:cNvSpPr txBox="1"/>
          <p:nvPr/>
        </p:nvSpPr>
        <p:spPr>
          <a:xfrm>
            <a:off x="3291840" y="1188720"/>
            <a:ext cx="2560320" cy="822960"/>
          </a:xfrm>
          <a:prstGeom prst="rect">
            <a:avLst/>
          </a:prstGeom>
          <a:noFill/>
          <a:ln/>
        </p:spPr>
        <p:txBody>
          <a:bodyPr wrap="square" lIns="0" tIns="0" rIns="0" bIns="0" rtlCol="0" anchor="ctr"/>
          <a:lstStyle/>
          <a:p>
            <a:pPr indent="0" marL="0">
              <a:buNone/>
            </a:pPr>
            <a:r>
              <a:rPr lang="en-US" sz="4800" b="1" dirty="0">
                <a:solidFill>
                  <a:schemeClr val="accent5"/>
                </a:solidFill>
                <a:latin typeface="Cambria" pitchFamily="34" charset="0"/>
                <a:ea typeface="Cambria" pitchFamily="34" charset="-122"/>
                <a:cs typeface="Cambria" pitchFamily="34" charset="-120"/>
              </a:rPr>
              <a:t>87%</a:t>
            </a:r>
            <a:endParaRPr lang="en-US" sz="4800" dirty="0"/>
          </a:p>
        </p:txBody>
      </p:sp>
      <p:sp>
        <p:nvSpPr>
          <p:cNvPr id="7" name="plain label"/>
          <p:cNvSpPr txBox="1"/>
          <p:nvPr/>
        </p:nvSpPr>
        <p:spPr>
          <a:xfrm>
            <a:off x="3291840" y="2011680"/>
            <a:ext cx="2560320" cy="548640"/>
          </a:xfrm>
          <a:prstGeom prst="rect">
            <a:avLst/>
          </a:prstGeom>
          <a:noFill/>
          <a:ln/>
        </p:spPr>
        <p:txBody>
          <a:bodyPr wrap="square" lIns="0" tIns="0" rIns="0" bIns="0" rtlCol="0" anchor="t"/>
          <a:lstStyle/>
          <a:p>
            <a:pPr indent="0" marL="0">
              <a:buNone/>
            </a:pPr>
            <a:r>
              <a:rPr lang="en-US" sz="1300" dirty="0">
                <a:solidFill>
                  <a:schemeClr val="tx2"/>
                </a:solidFill>
              </a:rPr>
              <a:t>plain LLM on 15 fresh rows (13 / 15)</a:t>
            </a:r>
            <a:endParaRPr lang="en-US" sz="1300" dirty="0"/>
          </a:p>
        </p:txBody>
      </p:sp>
      <p:sp>
        <p:nvSpPr>
          <p:cNvPr id="8" name="pipe number"/>
          <p:cNvSpPr txBox="1"/>
          <p:nvPr/>
        </p:nvSpPr>
        <p:spPr>
          <a:xfrm>
            <a:off x="6126480" y="1188720"/>
            <a:ext cx="2560320" cy="822960"/>
          </a:xfrm>
          <a:prstGeom prst="rect">
            <a:avLst/>
          </a:prstGeom>
          <a:noFill/>
          <a:ln/>
        </p:spPr>
        <p:txBody>
          <a:bodyPr wrap="square" lIns="0" tIns="0" rIns="0" bIns="0" rtlCol="0" anchor="ctr"/>
          <a:lstStyle/>
          <a:p>
            <a:pPr indent="0" marL="0">
              <a:buNone/>
            </a:pPr>
            <a:r>
              <a:rPr lang="en-US" sz="4800" b="1" dirty="0">
                <a:solidFill>
                  <a:schemeClr val="accent3"/>
                </a:solidFill>
                <a:latin typeface="Cambria" pitchFamily="34" charset="0"/>
                <a:ea typeface="Cambria" pitchFamily="34" charset="-122"/>
                <a:cs typeface="Cambria" pitchFamily="34" charset="-120"/>
              </a:rPr>
              <a:t>53%</a:t>
            </a:r>
            <a:endParaRPr lang="en-US" sz="4800" dirty="0"/>
          </a:p>
        </p:txBody>
      </p:sp>
      <p:sp>
        <p:nvSpPr>
          <p:cNvPr id="9" name="pipe label"/>
          <p:cNvSpPr txBox="1"/>
          <p:nvPr/>
        </p:nvSpPr>
        <p:spPr>
          <a:xfrm>
            <a:off x="6126480" y="2011680"/>
            <a:ext cx="2560320" cy="548640"/>
          </a:xfrm>
          <a:prstGeom prst="rect">
            <a:avLst/>
          </a:prstGeom>
          <a:noFill/>
          <a:ln/>
        </p:spPr>
        <p:txBody>
          <a:bodyPr wrap="square" lIns="0" tIns="0" rIns="0" bIns="0" rtlCol="0" anchor="t"/>
          <a:lstStyle/>
          <a:p>
            <a:pPr indent="0" marL="0">
              <a:buNone/>
            </a:pPr>
            <a:r>
              <a:rPr lang="en-US" sz="1300" dirty="0">
                <a:solidFill>
                  <a:schemeClr val="tx2"/>
                </a:solidFill>
              </a:rPr>
              <a:t>pipeline on the same fresh rows, old ONA encoding (8 / 15)</a:t>
            </a:r>
            <a:endParaRPr lang="en-US" sz="1300" dirty="0"/>
          </a:p>
        </p:txBody>
      </p:sp>
      <p:sp>
        <p:nvSpPr>
          <p:cNvPr id="10" name="honest bullets"/>
          <p:cNvSpPr txBox="1"/>
          <p:nvPr/>
        </p:nvSpPr>
        <p:spPr>
          <a:xfrm>
            <a:off x="457200" y="2926080"/>
            <a:ext cx="822960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Tuned rows overstate accuracy; fresh rows are the fair test</a:t>
            </a:r>
            <a:endParaRPr lang="en-US" sz="1500" dirty="0"/>
          </a:p>
          <a:p>
            <a:pPr marL="342900" indent="-342900">
              <a:spcAft>
                <a:spcPts val="600"/>
              </a:spcAft>
              <a:buSzPct val="100000"/>
              <a:buChar char="•"/>
            </a:pPr>
            <a:r>
              <a:rPr lang="en-US" sz="1500" dirty="0">
                <a:solidFill>
                  <a:schemeClr val="tx1"/>
                </a:solidFill>
              </a:rPr>
              <a:t>The old ONA encoding silently truncated and dropped statements, so the fresh score is a floor, not the final answer</a:t>
            </a:r>
            <a:endParaRPr lang="en-US" sz="1500" dirty="0"/>
          </a:p>
          <a:p>
            <a:pPr marL="342900" indent="-342900">
              <a:spcAft>
                <a:spcPts val="600"/>
              </a:spcAft>
              <a:buSzPct val="100000"/>
              <a:buChar char="•"/>
            </a:pPr>
            <a:r>
              <a:rPr lang="en-US" sz="1500" dirty="0">
                <a:solidFill>
                  <a:schemeClr val="tx1"/>
                </a:solidFill>
              </a:rPr>
              <a:t>Next: re-run fresh15 and fresh60 with the fixed engine and compare with the plain LLM</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Trouble 1: hidden ONA limits</a:t>
            </a:r>
            <a:endParaRPr lang="en-US" sz="3000" dirty="0"/>
          </a:p>
        </p:txBody>
      </p:sp>
      <p:sp>
        <p:nvSpPr>
          <p:cNvPr id="4" name="two card"/>
          <p:cNvSpPr/>
          <p:nvPr/>
        </p:nvSpPr>
        <p:spPr>
          <a:xfrm>
            <a:off x="457200" y="1188720"/>
            <a:ext cx="3977640" cy="1600200"/>
          </a:xfrm>
          <a:prstGeom prst="roundRect">
            <a:avLst>
              <a:gd name="adj" fmla="val 4571"/>
            </a:avLst>
          </a:prstGeom>
          <a:solidFill>
            <a:schemeClr val="bg2"/>
          </a:solidFill>
          <a:ln w="12700">
            <a:solidFill>
              <a:schemeClr val="bg2"/>
            </a:solidFill>
            <a:prstDash val="solid"/>
          </a:ln>
        </p:spPr>
      </p:sp>
      <p:sp>
        <p:nvSpPr>
          <p:cNvPr id="5" name="two dot"/>
          <p:cNvSpPr/>
          <p:nvPr/>
        </p:nvSpPr>
        <p:spPr>
          <a:xfrm>
            <a:off x="640080" y="1371600"/>
            <a:ext cx="128016" cy="128016"/>
          </a:xfrm>
          <a:prstGeom prst="ellipse">
            <a:avLst/>
          </a:prstGeom>
          <a:solidFill>
            <a:schemeClr val="accent3"/>
          </a:solidFill>
          <a:ln w="12700">
            <a:solidFill>
              <a:schemeClr val="accent3"/>
            </a:solidFill>
            <a:prstDash val="solid"/>
          </a:ln>
        </p:spPr>
      </p:sp>
      <p:sp>
        <p:nvSpPr>
          <p:cNvPr id="6" name="two head"/>
          <p:cNvSpPr txBox="1"/>
          <p:nvPr/>
        </p:nvSpPr>
        <p:spPr>
          <a:xfrm>
            <a:off x="868680" y="1280160"/>
            <a:ext cx="3429000" cy="320040"/>
          </a:xfrm>
          <a:prstGeom prst="rect">
            <a:avLst/>
          </a:prstGeom>
          <a:noFill/>
          <a:ln/>
        </p:spPr>
        <p:txBody>
          <a:bodyPr wrap="square" lIns="0" tIns="0" rIns="0" bIns="0" rtlCol="0" anchor="ctr"/>
          <a:lstStyle/>
          <a:p>
            <a:pPr indent="0" marL="0">
              <a:buNone/>
            </a:pPr>
            <a:r>
              <a:rPr lang="en-US" sz="1500" b="1" dirty="0">
                <a:solidFill>
                  <a:schemeClr val="tx1"/>
                </a:solidFill>
              </a:rPr>
              <a:t>Two components only</a:t>
            </a:r>
            <a:endParaRPr lang="en-US" sz="1500" dirty="0"/>
          </a:p>
        </p:txBody>
      </p:sp>
      <p:sp>
        <p:nvSpPr>
          <p:cNvPr id="7" name="two body"/>
          <p:cNvSpPr txBox="1"/>
          <p:nvPr/>
        </p:nvSpPr>
        <p:spPr>
          <a:xfrm>
            <a:off x="640080" y="1645920"/>
            <a:ext cx="3611880" cy="1051560"/>
          </a:xfrm>
          <a:prstGeom prst="rect">
            <a:avLst/>
          </a:prstGeom>
          <a:noFill/>
          <a:ln/>
        </p:spPr>
        <p:txBody>
          <a:bodyPr wrap="square" lIns="0" tIns="0" rIns="0" bIns="0" rtlCol="0" anchor="t"/>
          <a:lstStyle/>
          <a:p>
            <a:pPr indent="0" marL="0">
              <a:buNone/>
            </a:pPr>
            <a:r>
              <a:rPr lang="en-US" sz="1300" dirty="0">
                <a:solidFill>
                  <a:schemeClr val="tx2"/>
                </a:solidFill>
              </a:rPr>
              <a:t>Every compound (product, conjunction, disjunction) keeps only its first two parts. Fix: balanced binary trees of pairs.</a:t>
            </a:r>
            <a:endParaRPr lang="en-US" sz="1300" dirty="0"/>
          </a:p>
        </p:txBody>
      </p:sp>
      <p:sp>
        <p:nvSpPr>
          <p:cNvPr id="8" name="slots card"/>
          <p:cNvSpPr/>
          <p:nvPr/>
        </p:nvSpPr>
        <p:spPr>
          <a:xfrm>
            <a:off x="4709160" y="1188720"/>
            <a:ext cx="3977640" cy="1600200"/>
          </a:xfrm>
          <a:prstGeom prst="roundRect">
            <a:avLst>
              <a:gd name="adj" fmla="val 4571"/>
            </a:avLst>
          </a:prstGeom>
          <a:solidFill>
            <a:schemeClr val="bg2"/>
          </a:solidFill>
          <a:ln w="12700">
            <a:solidFill>
              <a:schemeClr val="bg2"/>
            </a:solidFill>
            <a:prstDash val="solid"/>
          </a:ln>
        </p:spPr>
      </p:sp>
      <p:sp>
        <p:nvSpPr>
          <p:cNvPr id="9" name="slots dot"/>
          <p:cNvSpPr/>
          <p:nvPr/>
        </p:nvSpPr>
        <p:spPr>
          <a:xfrm>
            <a:off x="4892040" y="1371600"/>
            <a:ext cx="128016" cy="128016"/>
          </a:xfrm>
          <a:prstGeom prst="ellipse">
            <a:avLst/>
          </a:prstGeom>
          <a:solidFill>
            <a:schemeClr val="accent3"/>
          </a:solidFill>
          <a:ln w="12700">
            <a:solidFill>
              <a:schemeClr val="accent3"/>
            </a:solidFill>
            <a:prstDash val="solid"/>
          </a:ln>
        </p:spPr>
      </p:sp>
      <p:sp>
        <p:nvSpPr>
          <p:cNvPr id="10" name="slots head"/>
          <p:cNvSpPr txBox="1"/>
          <p:nvPr/>
        </p:nvSpPr>
        <p:spPr>
          <a:xfrm>
            <a:off x="5120640" y="1280160"/>
            <a:ext cx="3429000" cy="320040"/>
          </a:xfrm>
          <a:prstGeom prst="rect">
            <a:avLst/>
          </a:prstGeom>
          <a:noFill/>
          <a:ln/>
        </p:spPr>
        <p:txBody>
          <a:bodyPr wrap="square" lIns="0" tIns="0" rIns="0" bIns="0" rtlCol="0" anchor="ctr"/>
          <a:lstStyle/>
          <a:p>
            <a:pPr indent="0" marL="0">
              <a:buNone/>
            </a:pPr>
            <a:r>
              <a:rPr lang="en-US" sz="1500" b="1" dirty="0">
                <a:solidFill>
                  <a:schemeClr val="tx1"/>
                </a:solidFill>
              </a:rPr>
              <a:t>Term size 64 slots</a:t>
            </a:r>
            <a:endParaRPr lang="en-US" sz="1500" dirty="0"/>
          </a:p>
        </p:txBody>
      </p:sp>
      <p:sp>
        <p:nvSpPr>
          <p:cNvPr id="11" name="slots body"/>
          <p:cNvSpPr txBox="1"/>
          <p:nvPr/>
        </p:nvSpPr>
        <p:spPr>
          <a:xfrm>
            <a:off x="4892040" y="1645920"/>
            <a:ext cx="3611880" cy="1051560"/>
          </a:xfrm>
          <a:prstGeom prst="rect">
            <a:avLst/>
          </a:prstGeom>
          <a:noFill/>
          <a:ln/>
        </p:spPr>
        <p:txBody>
          <a:bodyPr wrap="square" lIns="0" tIns="0" rIns="0" bIns="0" rtlCol="0" anchor="t"/>
          <a:lstStyle/>
          <a:p>
            <a:pPr indent="0" marL="0">
              <a:buNone/>
            </a:pPr>
            <a:r>
              <a:rPr lang="en-US" sz="1300" dirty="0">
                <a:solidFill>
                  <a:schemeClr val="tx2"/>
                </a:solidFill>
              </a:rPr>
              <a:t>Bigger statements were dropped with no error. Fix: shallower terms, plus a computed check that flags dropped lines.</a:t>
            </a:r>
            <a:endParaRPr lang="en-US" sz="1300" dirty="0"/>
          </a:p>
        </p:txBody>
      </p:sp>
      <p:sp>
        <p:nvSpPr>
          <p:cNvPr id="12" name="names card"/>
          <p:cNvSpPr/>
          <p:nvPr/>
        </p:nvSpPr>
        <p:spPr>
          <a:xfrm>
            <a:off x="457200" y="3017520"/>
            <a:ext cx="3977640" cy="1600200"/>
          </a:xfrm>
          <a:prstGeom prst="roundRect">
            <a:avLst>
              <a:gd name="adj" fmla="val 4571"/>
            </a:avLst>
          </a:prstGeom>
          <a:solidFill>
            <a:schemeClr val="bg2"/>
          </a:solidFill>
          <a:ln w="12700">
            <a:solidFill>
              <a:schemeClr val="bg2"/>
            </a:solidFill>
            <a:prstDash val="solid"/>
          </a:ln>
        </p:spPr>
      </p:sp>
      <p:sp>
        <p:nvSpPr>
          <p:cNvPr id="13" name="names dot"/>
          <p:cNvSpPr/>
          <p:nvPr/>
        </p:nvSpPr>
        <p:spPr>
          <a:xfrm>
            <a:off x="640080" y="3200400"/>
            <a:ext cx="128016" cy="128016"/>
          </a:xfrm>
          <a:prstGeom prst="ellipse">
            <a:avLst/>
          </a:prstGeom>
          <a:solidFill>
            <a:schemeClr val="accent3"/>
          </a:solidFill>
          <a:ln w="12700">
            <a:solidFill>
              <a:schemeClr val="accent3"/>
            </a:solidFill>
            <a:prstDash val="solid"/>
          </a:ln>
        </p:spPr>
      </p:sp>
      <p:sp>
        <p:nvSpPr>
          <p:cNvPr id="14" name="names head"/>
          <p:cNvSpPr txBox="1"/>
          <p:nvPr/>
        </p:nvSpPr>
        <p:spPr>
          <a:xfrm>
            <a:off x="868680" y="3108960"/>
            <a:ext cx="3429000" cy="320040"/>
          </a:xfrm>
          <a:prstGeom prst="rect">
            <a:avLst/>
          </a:prstGeom>
          <a:noFill/>
          <a:ln/>
        </p:spPr>
        <p:txBody>
          <a:bodyPr wrap="square" lIns="0" tIns="0" rIns="0" bIns="0" rtlCol="0" anchor="ctr"/>
          <a:lstStyle/>
          <a:p>
            <a:pPr indent="0" marL="0">
              <a:buNone/>
            </a:pPr>
            <a:r>
              <a:rPr lang="en-US" sz="1500" b="1" dirty="0">
                <a:solidFill>
                  <a:schemeClr val="tx1"/>
                </a:solidFill>
              </a:rPr>
              <a:t>Names cut at 32 characters</a:t>
            </a:r>
            <a:endParaRPr lang="en-US" sz="1500" dirty="0"/>
          </a:p>
        </p:txBody>
      </p:sp>
      <p:sp>
        <p:nvSpPr>
          <p:cNvPr id="15" name="names body"/>
          <p:cNvSpPr txBox="1"/>
          <p:nvPr/>
        </p:nvSpPr>
        <p:spPr>
          <a:xfrm>
            <a:off x="640080" y="3474720"/>
            <a:ext cx="3611880" cy="1051560"/>
          </a:xfrm>
          <a:prstGeom prst="rect">
            <a:avLst/>
          </a:prstGeom>
          <a:noFill/>
          <a:ln/>
        </p:spPr>
        <p:txBody>
          <a:bodyPr wrap="square" lIns="0" tIns="0" rIns="0" bIns="0" rtlCol="0" anchor="t"/>
          <a:lstStyle/>
          <a:p>
            <a:pPr indent="0" marL="0">
              <a:buNone/>
            </a:pPr>
            <a:r>
              <a:rPr lang="en-US" sz="1300" dirty="0">
                <a:solidFill>
                  <a:schemeClr val="tx2"/>
                </a:solidFill>
              </a:rPr>
              <a:t>Different long names collided and caused false Contradictions. Fix: shorten with a hash suffix.</a:t>
            </a:r>
            <a:endParaRPr lang="en-US" sz="1300" dirty="0"/>
          </a:p>
        </p:txBody>
      </p:sp>
      <p:sp>
        <p:nvSpPr>
          <p:cNvPr id="16" name="conj card"/>
          <p:cNvSpPr/>
          <p:nvPr/>
        </p:nvSpPr>
        <p:spPr>
          <a:xfrm>
            <a:off x="4709160" y="3017520"/>
            <a:ext cx="3977640" cy="1600200"/>
          </a:xfrm>
          <a:prstGeom prst="roundRect">
            <a:avLst>
              <a:gd name="adj" fmla="val 4571"/>
            </a:avLst>
          </a:prstGeom>
          <a:solidFill>
            <a:schemeClr val="bg2"/>
          </a:solidFill>
          <a:ln w="12700">
            <a:solidFill>
              <a:schemeClr val="bg2"/>
            </a:solidFill>
            <a:prstDash val="solid"/>
          </a:ln>
        </p:spPr>
      </p:sp>
      <p:sp>
        <p:nvSpPr>
          <p:cNvPr id="17" name="conj dot"/>
          <p:cNvSpPr/>
          <p:nvPr/>
        </p:nvSpPr>
        <p:spPr>
          <a:xfrm>
            <a:off x="4892040" y="3200400"/>
            <a:ext cx="128016" cy="128016"/>
          </a:xfrm>
          <a:prstGeom prst="ellipse">
            <a:avLst/>
          </a:prstGeom>
          <a:solidFill>
            <a:schemeClr val="accent3"/>
          </a:solidFill>
          <a:ln w="12700">
            <a:solidFill>
              <a:schemeClr val="accent3"/>
            </a:solidFill>
            <a:prstDash val="solid"/>
          </a:ln>
        </p:spPr>
      </p:sp>
      <p:sp>
        <p:nvSpPr>
          <p:cNvPr id="18" name="conj head"/>
          <p:cNvSpPr txBox="1"/>
          <p:nvPr/>
        </p:nvSpPr>
        <p:spPr>
          <a:xfrm>
            <a:off x="5120640" y="3108960"/>
            <a:ext cx="3429000" cy="320040"/>
          </a:xfrm>
          <a:prstGeom prst="rect">
            <a:avLst/>
          </a:prstGeom>
          <a:noFill/>
          <a:ln/>
        </p:spPr>
        <p:txBody>
          <a:bodyPr wrap="square" lIns="0" tIns="0" rIns="0" bIns="0" rtlCol="0" anchor="ctr"/>
          <a:lstStyle/>
          <a:p>
            <a:pPr indent="0" marL="0">
              <a:buNone/>
            </a:pPr>
            <a:r>
              <a:rPr lang="en-US" sz="1500" b="1" dirty="0">
                <a:solidFill>
                  <a:schemeClr val="tx1"/>
                </a:solidFill>
              </a:rPr>
              <a:t>No derived conjunctions</a:t>
            </a:r>
            <a:endParaRPr lang="en-US" sz="1500" dirty="0"/>
          </a:p>
        </p:txBody>
      </p:sp>
      <p:sp>
        <p:nvSpPr>
          <p:cNvPr id="19" name="conj body"/>
          <p:cNvSpPr txBox="1"/>
          <p:nvPr/>
        </p:nvSpPr>
        <p:spPr>
          <a:xfrm>
            <a:off x="4892040" y="3474720"/>
            <a:ext cx="3611880" cy="1051560"/>
          </a:xfrm>
          <a:prstGeom prst="rect">
            <a:avLst/>
          </a:prstGeom>
          <a:noFill/>
          <a:ln/>
        </p:spPr>
        <p:txBody>
          <a:bodyPr wrap="square" lIns="0" tIns="0" rIns="0" bIns="0" rtlCol="0" anchor="t"/>
          <a:lstStyle/>
          <a:p>
            <a:pPr indent="0" marL="0">
              <a:buNone/>
            </a:pPr>
            <a:r>
              <a:rPr lang="en-US" sz="1300" dirty="0">
                <a:solidFill>
                  <a:schemeClr val="tx2"/>
                </a:solidFill>
              </a:rPr>
              <a:t>ONA does not build a conjunction from derived beliefs. Fix: assert inner conjunctions as premises.</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Trouble 2: environment and engine bugs</a:t>
            </a:r>
            <a:endParaRPr lang="en-US" sz="3000" dirty="0"/>
          </a:p>
        </p:txBody>
      </p:sp>
      <p:sp>
        <p:nvSpPr>
          <p:cNvPr id="4" name="crash card"/>
          <p:cNvSpPr/>
          <p:nvPr/>
        </p:nvSpPr>
        <p:spPr>
          <a:xfrm>
            <a:off x="457200" y="1188720"/>
            <a:ext cx="3977640" cy="1600200"/>
          </a:xfrm>
          <a:prstGeom prst="roundRect">
            <a:avLst>
              <a:gd name="adj" fmla="val 4571"/>
            </a:avLst>
          </a:prstGeom>
          <a:solidFill>
            <a:schemeClr val="bg2"/>
          </a:solidFill>
          <a:ln w="12700">
            <a:solidFill>
              <a:schemeClr val="bg2"/>
            </a:solidFill>
            <a:prstDash val="solid"/>
          </a:ln>
        </p:spPr>
      </p:sp>
      <p:sp>
        <p:nvSpPr>
          <p:cNvPr id="5" name="crash dot"/>
          <p:cNvSpPr/>
          <p:nvPr/>
        </p:nvSpPr>
        <p:spPr>
          <a:xfrm>
            <a:off x="640080" y="1371600"/>
            <a:ext cx="128016" cy="128016"/>
          </a:xfrm>
          <a:prstGeom prst="ellipse">
            <a:avLst/>
          </a:prstGeom>
          <a:solidFill>
            <a:schemeClr val="accent2"/>
          </a:solidFill>
          <a:ln w="12700">
            <a:solidFill>
              <a:schemeClr val="accent2"/>
            </a:solidFill>
            <a:prstDash val="solid"/>
          </a:ln>
        </p:spPr>
      </p:sp>
      <p:sp>
        <p:nvSpPr>
          <p:cNvPr id="6" name="crash head"/>
          <p:cNvSpPr txBox="1"/>
          <p:nvPr/>
        </p:nvSpPr>
        <p:spPr>
          <a:xfrm>
            <a:off x="868680" y="1280160"/>
            <a:ext cx="3429000" cy="320040"/>
          </a:xfrm>
          <a:prstGeom prst="rect">
            <a:avLst/>
          </a:prstGeom>
          <a:noFill/>
          <a:ln/>
        </p:spPr>
        <p:txBody>
          <a:bodyPr wrap="square" lIns="0" tIns="0" rIns="0" bIns="0" rtlCol="0" anchor="ctr"/>
          <a:lstStyle/>
          <a:p>
            <a:pPr indent="0" marL="0">
              <a:buNone/>
            </a:pPr>
            <a:r>
              <a:rPr lang="en-US" sz="1500" b="1" dirty="0">
                <a:solidFill>
                  <a:schemeClr val="tx1"/>
                </a:solidFill>
              </a:rPr>
              <a:t>A crash looked like NotMentioned</a:t>
            </a:r>
            <a:endParaRPr lang="en-US" sz="1500" dirty="0"/>
          </a:p>
        </p:txBody>
      </p:sp>
      <p:sp>
        <p:nvSpPr>
          <p:cNvPr id="7" name="crash body"/>
          <p:cNvSpPr txBox="1"/>
          <p:nvPr/>
        </p:nvSpPr>
        <p:spPr>
          <a:xfrm>
            <a:off x="640080" y="1645920"/>
            <a:ext cx="3611880" cy="1051560"/>
          </a:xfrm>
          <a:prstGeom prst="rect">
            <a:avLst/>
          </a:prstGeom>
          <a:noFill/>
          <a:ln/>
        </p:spPr>
        <p:txBody>
          <a:bodyPr wrap="square" lIns="0" tIns="0" rIns="0" bIns="0" rtlCol="0" anchor="t"/>
          <a:lstStyle/>
          <a:p>
            <a:pPr indent="0" marL="0">
              <a:buNone/>
            </a:pPr>
            <a:r>
              <a:rPr lang="en-US" sz="1300" dirty="0">
                <a:solidFill>
                  <a:schemeClr val="tx2"/>
                </a:solidFill>
              </a:rPr>
              <a:t>The 256-slot build compiles but will not start on macOS, so every row scored 0 of 14. Now each build is smoke-tested; 128 slots is the ceiling.</a:t>
            </a:r>
            <a:endParaRPr lang="en-US" sz="1300" dirty="0"/>
          </a:p>
        </p:txBody>
      </p:sp>
      <p:sp>
        <p:nvSpPr>
          <p:cNvPr id="8" name="timeout card"/>
          <p:cNvSpPr/>
          <p:nvPr/>
        </p:nvSpPr>
        <p:spPr>
          <a:xfrm>
            <a:off x="4709160" y="1188720"/>
            <a:ext cx="3977640" cy="1600200"/>
          </a:xfrm>
          <a:prstGeom prst="roundRect">
            <a:avLst>
              <a:gd name="adj" fmla="val 4571"/>
            </a:avLst>
          </a:prstGeom>
          <a:solidFill>
            <a:schemeClr val="bg2"/>
          </a:solidFill>
          <a:ln w="12700">
            <a:solidFill>
              <a:schemeClr val="bg2"/>
            </a:solidFill>
            <a:prstDash val="solid"/>
          </a:ln>
        </p:spPr>
      </p:sp>
      <p:sp>
        <p:nvSpPr>
          <p:cNvPr id="9" name="timeout dot"/>
          <p:cNvSpPr/>
          <p:nvPr/>
        </p:nvSpPr>
        <p:spPr>
          <a:xfrm>
            <a:off x="4892040" y="1371600"/>
            <a:ext cx="128016" cy="128016"/>
          </a:xfrm>
          <a:prstGeom prst="ellipse">
            <a:avLst/>
          </a:prstGeom>
          <a:solidFill>
            <a:schemeClr val="accent2"/>
          </a:solidFill>
          <a:ln w="12700">
            <a:solidFill>
              <a:schemeClr val="accent2"/>
            </a:solidFill>
            <a:prstDash val="solid"/>
          </a:ln>
        </p:spPr>
      </p:sp>
      <p:sp>
        <p:nvSpPr>
          <p:cNvPr id="10" name="timeout head"/>
          <p:cNvSpPr txBox="1"/>
          <p:nvPr/>
        </p:nvSpPr>
        <p:spPr>
          <a:xfrm>
            <a:off x="5120640" y="1280160"/>
            <a:ext cx="3429000" cy="320040"/>
          </a:xfrm>
          <a:prstGeom prst="rect">
            <a:avLst/>
          </a:prstGeom>
          <a:noFill/>
          <a:ln/>
        </p:spPr>
        <p:txBody>
          <a:bodyPr wrap="square" lIns="0" tIns="0" rIns="0" bIns="0" rtlCol="0" anchor="ctr"/>
          <a:lstStyle/>
          <a:p>
            <a:pPr indent="0" marL="0">
              <a:buNone/>
            </a:pPr>
            <a:r>
              <a:rPr lang="en-US" sz="1500" b="1" dirty="0">
                <a:solidFill>
                  <a:schemeClr val="tx1"/>
                </a:solidFill>
              </a:rPr>
              <a:t>Timeout hid a right answer</a:t>
            </a:r>
            <a:endParaRPr lang="en-US" sz="1500" dirty="0"/>
          </a:p>
        </p:txBody>
      </p:sp>
      <p:sp>
        <p:nvSpPr>
          <p:cNvPr id="11" name="timeout body"/>
          <p:cNvSpPr txBox="1"/>
          <p:nvPr/>
        </p:nvSpPr>
        <p:spPr>
          <a:xfrm>
            <a:off x="4892040" y="1645920"/>
            <a:ext cx="3611880" cy="1051560"/>
          </a:xfrm>
          <a:prstGeom prst="rect">
            <a:avLst/>
          </a:prstGeom>
          <a:noFill/>
          <a:ln/>
        </p:spPr>
        <p:txBody>
          <a:bodyPr wrap="square" lIns="0" tIns="0" rIns="0" bIns="0" rtlCol="0" anchor="t"/>
          <a:lstStyle/>
          <a:p>
            <a:pPr indent="0" marL="0">
              <a:buNone/>
            </a:pPr>
            <a:r>
              <a:rPr lang="en-US" sz="1300" dirty="0">
                <a:solidFill>
                  <a:schemeClr val="tx2"/>
                </a:solidFill>
              </a:rPr>
              <a:t>ret_16 needed over 60 s. Alternative conditions are now named once (112 lines down to 54) and large bases use fewer cycles.</a:t>
            </a:r>
            <a:endParaRPr lang="en-US" sz="1300" dirty="0"/>
          </a:p>
        </p:txBody>
      </p:sp>
      <p:sp>
        <p:nvSpPr>
          <p:cNvPr id="12" name="excl card"/>
          <p:cNvSpPr/>
          <p:nvPr/>
        </p:nvSpPr>
        <p:spPr>
          <a:xfrm>
            <a:off x="457200" y="3017520"/>
            <a:ext cx="3977640" cy="1600200"/>
          </a:xfrm>
          <a:prstGeom prst="roundRect">
            <a:avLst>
              <a:gd name="adj" fmla="val 4571"/>
            </a:avLst>
          </a:prstGeom>
          <a:solidFill>
            <a:schemeClr val="bg2"/>
          </a:solidFill>
          <a:ln w="12700">
            <a:solidFill>
              <a:schemeClr val="bg2"/>
            </a:solidFill>
            <a:prstDash val="solid"/>
          </a:ln>
        </p:spPr>
      </p:sp>
      <p:sp>
        <p:nvSpPr>
          <p:cNvPr id="13" name="excl dot"/>
          <p:cNvSpPr/>
          <p:nvPr/>
        </p:nvSpPr>
        <p:spPr>
          <a:xfrm>
            <a:off x="640080" y="3200400"/>
            <a:ext cx="128016" cy="128016"/>
          </a:xfrm>
          <a:prstGeom prst="ellipse">
            <a:avLst/>
          </a:prstGeom>
          <a:solidFill>
            <a:schemeClr val="accent2"/>
          </a:solidFill>
          <a:ln w="12700">
            <a:solidFill>
              <a:schemeClr val="accent2"/>
            </a:solidFill>
            <a:prstDash val="solid"/>
          </a:ln>
        </p:spPr>
      </p:sp>
      <p:sp>
        <p:nvSpPr>
          <p:cNvPr id="14" name="excl head"/>
          <p:cNvSpPr txBox="1"/>
          <p:nvPr/>
        </p:nvSpPr>
        <p:spPr>
          <a:xfrm>
            <a:off x="868680" y="3108960"/>
            <a:ext cx="3429000" cy="320040"/>
          </a:xfrm>
          <a:prstGeom prst="rect">
            <a:avLst/>
          </a:prstGeom>
          <a:noFill/>
          <a:ln/>
        </p:spPr>
        <p:txBody>
          <a:bodyPr wrap="square" lIns="0" tIns="0" rIns="0" bIns="0" rtlCol="0" anchor="ctr"/>
          <a:lstStyle/>
          <a:p>
            <a:pPr indent="0" marL="0">
              <a:buNone/>
            </a:pPr>
            <a:r>
              <a:rPr lang="en-US" sz="1500" b="1" dirty="0">
                <a:solidFill>
                  <a:schemeClr val="tx1"/>
                </a:solidFill>
              </a:rPr>
              <a:t>“Does not include” was dropped</a:t>
            </a:r>
            <a:endParaRPr lang="en-US" sz="1500" dirty="0"/>
          </a:p>
        </p:txBody>
      </p:sp>
      <p:sp>
        <p:nvSpPr>
          <p:cNvPr id="15" name="excl body"/>
          <p:cNvSpPr txBox="1"/>
          <p:nvPr/>
        </p:nvSpPr>
        <p:spPr>
          <a:xfrm>
            <a:off x="640080" y="3474720"/>
            <a:ext cx="3611880" cy="1051560"/>
          </a:xfrm>
          <a:prstGeom prst="rect">
            <a:avLst/>
          </a:prstGeom>
          <a:noFill/>
          <a:ln/>
        </p:spPr>
        <p:txBody>
          <a:bodyPr wrap="square" lIns="0" tIns="0" rIns="0" bIns="0" rtlCol="0" anchor="t"/>
          <a:lstStyle/>
          <a:p>
            <a:pPr indent="0" marL="0">
              <a:buNone/>
            </a:pPr>
            <a:r>
              <a:rPr lang="en-US" sz="1300" dirty="0">
                <a:solidFill>
                  <a:schemeClr val="tx2"/>
                </a:solidFill>
              </a:rPr>
              <a:t>Exclusion clauses produced no statement at all. They are now real units that deny inclusion and can imply a permission.</a:t>
            </a:r>
            <a:endParaRPr lang="en-US" sz="1300" dirty="0"/>
          </a:p>
        </p:txBody>
      </p:sp>
      <p:sp>
        <p:nvSpPr>
          <p:cNvPr id="16" name="or card"/>
          <p:cNvSpPr/>
          <p:nvPr/>
        </p:nvSpPr>
        <p:spPr>
          <a:xfrm>
            <a:off x="4709160" y="3017520"/>
            <a:ext cx="3977640" cy="1600200"/>
          </a:xfrm>
          <a:prstGeom prst="roundRect">
            <a:avLst>
              <a:gd name="adj" fmla="val 4571"/>
            </a:avLst>
          </a:prstGeom>
          <a:solidFill>
            <a:schemeClr val="bg2"/>
          </a:solidFill>
          <a:ln w="12700">
            <a:solidFill>
              <a:schemeClr val="bg2"/>
            </a:solidFill>
            <a:prstDash val="solid"/>
          </a:ln>
        </p:spPr>
      </p:sp>
      <p:sp>
        <p:nvSpPr>
          <p:cNvPr id="17" name="or dot"/>
          <p:cNvSpPr/>
          <p:nvPr/>
        </p:nvSpPr>
        <p:spPr>
          <a:xfrm>
            <a:off x="4892040" y="3200400"/>
            <a:ext cx="128016" cy="128016"/>
          </a:xfrm>
          <a:prstGeom prst="ellipse">
            <a:avLst/>
          </a:prstGeom>
          <a:solidFill>
            <a:schemeClr val="accent2"/>
          </a:solidFill>
          <a:ln w="12700">
            <a:solidFill>
              <a:schemeClr val="accent2"/>
            </a:solidFill>
            <a:prstDash val="solid"/>
          </a:ln>
        </p:spPr>
      </p:sp>
      <p:sp>
        <p:nvSpPr>
          <p:cNvPr id="18" name="or head"/>
          <p:cNvSpPr txBox="1"/>
          <p:nvPr/>
        </p:nvSpPr>
        <p:spPr>
          <a:xfrm>
            <a:off x="5120640" y="3108960"/>
            <a:ext cx="3429000" cy="320040"/>
          </a:xfrm>
          <a:prstGeom prst="rect">
            <a:avLst/>
          </a:prstGeom>
          <a:noFill/>
          <a:ln/>
        </p:spPr>
        <p:txBody>
          <a:bodyPr wrap="square" lIns="0" tIns="0" rIns="0" bIns="0" rtlCol="0" anchor="ctr"/>
          <a:lstStyle/>
          <a:p>
            <a:pPr indent="0" marL="0">
              <a:buNone/>
            </a:pPr>
            <a:r>
              <a:rPr lang="en-US" sz="1500" b="1" dirty="0">
                <a:solidFill>
                  <a:schemeClr val="tx1"/>
                </a:solidFill>
              </a:rPr>
              <a:t>OR merged into one word</a:t>
            </a:r>
            <a:endParaRPr lang="en-US" sz="1500" dirty="0"/>
          </a:p>
        </p:txBody>
      </p:sp>
      <p:sp>
        <p:nvSpPr>
          <p:cNvPr id="19" name="or body"/>
          <p:cNvSpPr txBox="1"/>
          <p:nvPr/>
        </p:nvSpPr>
        <p:spPr>
          <a:xfrm>
            <a:off x="4892040" y="3474720"/>
            <a:ext cx="3611880" cy="1051560"/>
          </a:xfrm>
          <a:prstGeom prst="rect">
            <a:avLst/>
          </a:prstGeom>
          <a:noFill/>
          <a:ln/>
        </p:spPr>
        <p:txBody>
          <a:bodyPr wrap="square" lIns="0" tIns="0" rIns="0" bIns="0" rtlCol="0" anchor="t"/>
          <a:lstStyle/>
          <a:p>
            <a:pPr indent="0" marL="0">
              <a:buNone/>
            </a:pPr>
            <a:r>
              <a:rPr lang="en-US" sz="1300" dirty="0">
                <a:solidFill>
                  <a:schemeClr val="tx2"/>
                </a:solidFill>
              </a:rPr>
              <a:t>A condition with “or” became one long atom. Now (||, ...) keeps every alternative.</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Trouble 3: translation and alignment</a:t>
            </a:r>
            <a:endParaRPr lang="en-US" sz="3000" dirty="0"/>
          </a:p>
        </p:txBody>
      </p:sp>
      <p:sp>
        <p:nvSpPr>
          <p:cNvPr id="4" name="align bullets"/>
          <p:cNvSpPr txBox="1"/>
          <p:nvPr/>
        </p:nvSpPr>
        <p:spPr>
          <a:xfrm>
            <a:off x="457200" y="1188720"/>
            <a:ext cx="4937760" cy="3474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Unexpected force words (“means”, “defines”) dropped definitions: now mapped to known forces</a:t>
            </a:r>
            <a:endParaRPr lang="en-US" sz="1400" dirty="0"/>
          </a:p>
          <a:p>
            <a:pPr marL="342900" indent="-342900">
              <a:spcAft>
                <a:spcPts val="600"/>
              </a:spcAft>
              <a:buSzPct val="100000"/>
              <a:buChar char="•"/>
            </a:pPr>
            <a:r>
              <a:rPr lang="en-US" sz="1400" dirty="0">
                <a:solidFill>
                  <a:schemeClr val="tx1"/>
                </a:solidFill>
              </a:rPr>
              <a:t>Quotes stitched from two places failed grounding: tolerated when the pieces are in the clause</a:t>
            </a:r>
            <a:endParaRPr lang="en-US" sz="1400" dirty="0"/>
          </a:p>
          <a:p>
            <a:pPr marL="342900" indent="-342900">
              <a:spcAft>
                <a:spcPts val="600"/>
              </a:spcAft>
              <a:buSzPct val="100000"/>
              <a:buChar char="•"/>
            </a:pPr>
            <a:r>
              <a:rPr lang="en-US" sz="1400" dirty="0">
                <a:solidFill>
                  <a:schemeClr val="tx1"/>
                </a:solidFill>
              </a:rPr>
              <a:t>Conditions without an atom, or a bare action frame, were dropped: atoms are now derived</a:t>
            </a:r>
            <a:endParaRPr lang="en-US" sz="1400" dirty="0"/>
          </a:p>
          <a:p>
            <a:pPr marL="342900" indent="-342900">
              <a:spcAft>
                <a:spcPts val="600"/>
              </a:spcAft>
              <a:buSzPct val="100000"/>
              <a:buChar char="•"/>
            </a:pPr>
            <a:r>
              <a:rPr lang="en-US" sz="1400" dirty="0">
                <a:solidFill>
                  <a:schemeClr val="tx1"/>
                </a:solidFill>
              </a:rPr>
              <a:t>Alignment is unstable: identical translations, different labels after a prompt change (ret_8, ret_11)</a:t>
            </a:r>
            <a:endParaRPr lang="en-US" sz="1400" dirty="0"/>
          </a:p>
          <a:p>
            <a:pPr marL="342900" indent="-342900">
              <a:spcAft>
                <a:spcPts val="600"/>
              </a:spcAft>
              <a:buSzPct val="100000"/>
              <a:buChar char="•"/>
            </a:pPr>
            <a:r>
              <a:rPr lang="en-US" sz="1400" dirty="0">
                <a:solidFill>
                  <a:schemeClr val="tx1"/>
                </a:solidFill>
              </a:rPr>
              <a:t>Same-model agents make correlated errors, which limits what voting can fix</a:t>
            </a:r>
            <a:endParaRPr lang="en-US" sz="1400" dirty="0"/>
          </a:p>
        </p:txBody>
      </p:sp>
      <p:sp>
        <p:nvSpPr>
          <p:cNvPr id="5" name="flip card"/>
          <p:cNvSpPr/>
          <p:nvPr/>
        </p:nvSpPr>
        <p:spPr>
          <a:xfrm>
            <a:off x="5669280" y="1188720"/>
            <a:ext cx="3017520" cy="3291840"/>
          </a:xfrm>
          <a:prstGeom prst="roundRect">
            <a:avLst>
              <a:gd name="adj" fmla="val 2424"/>
            </a:avLst>
          </a:prstGeom>
          <a:solidFill>
            <a:schemeClr val="bg2"/>
          </a:solidFill>
          <a:ln w="12700">
            <a:solidFill>
              <a:schemeClr val="bg2"/>
            </a:solidFill>
            <a:prstDash val="solid"/>
          </a:ln>
        </p:spPr>
      </p:sp>
      <p:sp>
        <p:nvSpPr>
          <p:cNvPr id="6" name="flip head"/>
          <p:cNvSpPr txBox="1"/>
          <p:nvPr/>
        </p:nvSpPr>
        <p:spPr>
          <a:xfrm>
            <a:off x="5852160" y="1280160"/>
            <a:ext cx="2651760" cy="548640"/>
          </a:xfrm>
          <a:prstGeom prst="rect">
            <a:avLst/>
          </a:prstGeom>
          <a:noFill/>
          <a:ln/>
        </p:spPr>
        <p:txBody>
          <a:bodyPr wrap="square" lIns="0" tIns="0" rIns="0" bIns="0" rtlCol="0" anchor="ctr"/>
          <a:lstStyle/>
          <a:p>
            <a:pPr indent="0" marL="0">
              <a:buNone/>
            </a:pPr>
            <a:r>
              <a:rPr lang="en-US" sz="1400" b="1" dirty="0">
                <a:solidFill>
                  <a:schemeClr val="tx1"/>
                </a:solidFill>
              </a:rPr>
              <a:t>Same translation, different alignment</a:t>
            </a:r>
            <a:endParaRPr lang="en-US" sz="1400" dirty="0"/>
          </a:p>
        </p:txBody>
      </p:sp>
      <p:sp>
        <p:nvSpPr>
          <p:cNvPr id="7" name="flip body"/>
          <p:cNvSpPr txBox="1"/>
          <p:nvPr/>
        </p:nvSpPr>
        <p:spPr>
          <a:xfrm>
            <a:off x="5852160" y="1828800"/>
            <a:ext cx="2651760" cy="2560320"/>
          </a:xfrm>
          <a:prstGeom prst="rect">
            <a:avLst/>
          </a:prstGeom>
          <a:noFill/>
          <a:ln/>
        </p:spPr>
        <p:txBody>
          <a:bodyPr wrap="square" lIns="0" tIns="0" rIns="0" bIns="0" rtlCol="0" anchor="t"/>
          <a:lstStyle/>
          <a:p>
            <a:pPr indent="0" marL="0">
              <a:buNone/>
            </a:pPr>
            <a:r>
              <a:rPr lang="en-US" sz="1200" b="1" dirty="0">
                <a:solidFill>
                  <a:schemeClr val="tx2"/>
                </a:solidFill>
              </a:rPr>
              <a:t>ret_8</a:t>
            </a:r>
            <a:endParaRPr lang="en-US" sz="1200" dirty="0"/>
          </a:p>
          <a:p>
            <a:pPr indent="0" marL="0">
              <a:spcAft>
                <a:spcPts val="1000"/>
              </a:spcAft>
              <a:buNone/>
            </a:pPr>
            <a:r>
              <a:rPr lang="en-US" sz="1200" dirty="0">
                <a:solidFill>
                  <a:schemeClr val="tx2"/>
                </a:solidFill>
              </a:rPr>
              <a:t>“may know from a source” vs “acquire”: same, then unrelated. Right, then wrong.</a:t>
            </a:r>
            <a:endParaRPr lang="en-US" sz="1200" dirty="0"/>
          </a:p>
          <a:p>
            <a:pPr indent="0" marL="0">
              <a:buNone/>
            </a:pPr>
            <a:r>
              <a:rPr lang="en-US" sz="1200" b="1" dirty="0">
                <a:solidFill>
                  <a:schemeClr val="tx2"/>
                </a:solidFill>
              </a:rPr>
              <a:t>ret_11</a:t>
            </a:r>
            <a:endParaRPr lang="en-US" sz="1200" dirty="0"/>
          </a:p>
          <a:p>
            <a:pPr indent="0" marL="0">
              <a:buNone/>
            </a:pPr>
            <a:r>
              <a:rPr lang="en-US" sz="1200" dirty="0">
                <a:solidFill>
                  <a:schemeClr val="tx2"/>
                </a:solidFill>
              </a:rPr>
              <a:t>“must not use the data” vs “use any CI”: broader, then same. Entailment, then Contradiction.</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Where we are now: dev15, 8 of 14</a:t>
            </a:r>
            <a:endParaRPr lang="en-US" sz="3000" dirty="0"/>
          </a:p>
        </p:txBody>
      </p:sp>
      <p:graphicFrame>
        <p:nvGraphicFramePr>
          <p:cNvPr id="13" name="misses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822960"/>
                <a:gridCol w="1371600"/>
                <a:gridCol w="603504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Row</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Gold</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 it fails</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1B2A41"/>
                    </a:solidFill>
                  </a:tcPr>
                </a:tc>
              </a:tr>
              <a:tr h="384048">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ret_41</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3F6"/>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Contradiction</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3F6"/>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must return / destroy vs may retain: conflict label added, verdict still open</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3F6"/>
                    </a:solidFill>
                  </a:tcPr>
                </a:tc>
              </a:tr>
              <a:tr h="384048">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ret_15</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Contradiction</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“use” vs “share” labelled unrelated</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ret_32</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3F6"/>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Entailment</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3F6"/>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restricting access implies sharing is allowed; aligner says unrelated</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3F6"/>
                    </a:solidFill>
                  </a:tcPr>
                </a:tc>
              </a:tr>
              <a:tr h="384048">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ret_22</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Entailment</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permission only implied (“no obligations” for lawfully received info)</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ret_8</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3F6"/>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Entailment</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3F6"/>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alignment flipped between runs</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3F6"/>
                    </a:solidFill>
                  </a:tcPr>
                </a:tc>
              </a:tr>
              <a:tr h="384048">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ret_11</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Entailment</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alignment flipped between runs</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bl>
          </a:graphicData>
        </a:graphic>
      </p:graphicFrame>
      <p:sp>
        <p:nvSpPr>
          <p:cNvPr id="5" name="fixed note"/>
          <p:cNvSpPr txBox="1"/>
          <p:nvPr/>
        </p:nvSpPr>
        <p:spPr>
          <a:xfrm>
            <a:off x="457200" y="4206240"/>
            <a:ext cx="8229600" cy="457200"/>
          </a:xfrm>
          <a:prstGeom prst="rect">
            <a:avLst/>
          </a:prstGeom>
          <a:noFill/>
          <a:ln/>
        </p:spPr>
        <p:txBody>
          <a:bodyPr wrap="square" lIns="0" tIns="0" rIns="0" bIns="0" rtlCol="0" anchor="ctr"/>
          <a:lstStyle/>
          <a:p>
            <a:pPr indent="0" marL="0">
              <a:buNone/>
            </a:pPr>
            <a:r>
              <a:rPr lang="en-US" sz="1400" b="1" dirty="0">
                <a:solidFill>
                  <a:schemeClr val="accent4"/>
                </a:solidFill>
              </a:rPr>
              <a:t>Fixed this week: ret_1 (excluded item now reaches ONA) and ret_16 (timeout). No row has an ONA error.</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Is the translation good?</a:t>
            </a:r>
            <a:endParaRPr lang="en-US" sz="3000" dirty="0"/>
          </a:p>
        </p:txBody>
      </p:sp>
      <p:sp>
        <p:nvSpPr>
          <p:cNvPr id="4" name="cov number"/>
          <p:cNvSpPr txBox="1"/>
          <p:nvPr/>
        </p:nvSpPr>
        <p:spPr>
          <a:xfrm>
            <a:off x="457200" y="1188720"/>
            <a:ext cx="2560320" cy="82296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97%</a:t>
            </a:r>
            <a:endParaRPr lang="en-US" sz="4800" dirty="0"/>
          </a:p>
        </p:txBody>
      </p:sp>
      <p:sp>
        <p:nvSpPr>
          <p:cNvPr id="5" name="cov label"/>
          <p:cNvSpPr txBox="1"/>
          <p:nvPr/>
        </p:nvSpPr>
        <p:spPr>
          <a:xfrm>
            <a:off x="457200" y="2011680"/>
            <a:ext cx="2560320" cy="548640"/>
          </a:xfrm>
          <a:prstGeom prst="rect">
            <a:avLst/>
          </a:prstGeom>
          <a:noFill/>
          <a:ln/>
        </p:spPr>
        <p:txBody>
          <a:bodyPr wrap="square" lIns="0" tIns="0" rIns="0" bIns="0" rtlCol="0" anchor="t"/>
          <a:lstStyle/>
          <a:p>
            <a:pPr indent="0" marL="0">
              <a:buNone/>
            </a:pPr>
            <a:r>
              <a:rPr lang="en-US" sz="1300" dirty="0">
                <a:solidFill>
                  <a:schemeClr val="tx2"/>
                </a:solidFill>
              </a:rPr>
              <a:t>typical word coverage (lowest row: 82%, ret_16)</a:t>
            </a:r>
            <a:endParaRPr lang="en-US" sz="1300" dirty="0"/>
          </a:p>
        </p:txBody>
      </p:sp>
      <p:sp>
        <p:nvSpPr>
          <p:cNvPr id="6" name="flags number"/>
          <p:cNvSpPr txBox="1"/>
          <p:nvPr/>
        </p:nvSpPr>
        <p:spPr>
          <a:xfrm>
            <a:off x="3291840" y="1188720"/>
            <a:ext cx="2560320" cy="82296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9 / 14</a:t>
            </a:r>
            <a:endParaRPr lang="en-US" sz="4800" dirty="0"/>
          </a:p>
        </p:txBody>
      </p:sp>
      <p:sp>
        <p:nvSpPr>
          <p:cNvPr id="7" name="flags label"/>
          <p:cNvSpPr txBox="1"/>
          <p:nvPr/>
        </p:nvSpPr>
        <p:spPr>
          <a:xfrm>
            <a:off x="3291840" y="2011680"/>
            <a:ext cx="2560320" cy="548640"/>
          </a:xfrm>
          <a:prstGeom prst="rect">
            <a:avLst/>
          </a:prstGeom>
          <a:noFill/>
          <a:ln/>
        </p:spPr>
        <p:txBody>
          <a:bodyPr wrap="square" lIns="0" tIns="0" rIns="0" bIns="0" rtlCol="0" anchor="t"/>
          <a:lstStyle/>
          <a:p>
            <a:pPr indent="0" marL="0">
              <a:buNone/>
            </a:pPr>
            <a:r>
              <a:rPr lang="en-US" sz="1300" dirty="0">
                <a:solidFill>
                  <a:schemeClr val="tx2"/>
                </a:solidFill>
              </a:rPr>
              <a:t>rows still carry a translation flag</a:t>
            </a:r>
            <a:endParaRPr lang="en-US" sz="1300" dirty="0"/>
          </a:p>
        </p:txBody>
      </p:sp>
      <p:sp>
        <p:nvSpPr>
          <p:cNvPr id="8" name="repairs number"/>
          <p:cNvSpPr txBox="1"/>
          <p:nvPr/>
        </p:nvSpPr>
        <p:spPr>
          <a:xfrm>
            <a:off x="6126480" y="1188720"/>
            <a:ext cx="2560320" cy="822960"/>
          </a:xfrm>
          <a:prstGeom prst="rect">
            <a:avLst/>
          </a:prstGeom>
          <a:noFill/>
          <a:ln/>
        </p:spPr>
        <p:txBody>
          <a:bodyPr wrap="square" lIns="0" tIns="0" rIns="0" bIns="0" rtlCol="0" anchor="ctr"/>
          <a:lstStyle/>
          <a:p>
            <a:pPr indent="0" marL="0">
              <a:buNone/>
            </a:pPr>
            <a:r>
              <a:rPr lang="en-US" sz="4800" b="1" dirty="0">
                <a:solidFill>
                  <a:schemeClr val="accent3"/>
                </a:solidFill>
                <a:latin typeface="Cambria" pitchFamily="34" charset="0"/>
                <a:ea typeface="Cambria" pitchFamily="34" charset="-122"/>
                <a:cs typeface="Cambria" pitchFamily="34" charset="-120"/>
              </a:rPr>
              <a:t>9 / 14</a:t>
            </a:r>
            <a:endParaRPr lang="en-US" sz="4800" dirty="0"/>
          </a:p>
        </p:txBody>
      </p:sp>
      <p:sp>
        <p:nvSpPr>
          <p:cNvPr id="9" name="repairs label"/>
          <p:cNvSpPr txBox="1"/>
          <p:nvPr/>
        </p:nvSpPr>
        <p:spPr>
          <a:xfrm>
            <a:off x="6126480" y="2011680"/>
            <a:ext cx="2560320" cy="548640"/>
          </a:xfrm>
          <a:prstGeom prst="rect">
            <a:avLst/>
          </a:prstGeom>
          <a:noFill/>
          <a:ln/>
        </p:spPr>
        <p:txBody>
          <a:bodyPr wrap="square" lIns="0" tIns="0" rIns="0" bIns="0" rtlCol="0" anchor="t"/>
          <a:lstStyle/>
          <a:p>
            <a:pPr indent="0" marL="0">
              <a:buNone/>
            </a:pPr>
            <a:r>
              <a:rPr lang="en-US" sz="1300" dirty="0">
                <a:solidFill>
                  <a:schemeClr val="tx2"/>
                </a:solidFill>
              </a:rPr>
              <a:t>rows needed a repair round</a:t>
            </a:r>
            <a:endParaRPr lang="en-US" sz="1300" dirty="0"/>
          </a:p>
        </p:txBody>
      </p:sp>
      <p:sp>
        <p:nvSpPr>
          <p:cNvPr id="10" name="quality bullets"/>
          <p:cNvSpPr txBox="1"/>
          <p:nvPr/>
        </p:nvSpPr>
        <p:spPr>
          <a:xfrm>
            <a:off x="457200" y="2926080"/>
            <a:ext cx="822960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Known loss: “including but not limited to” is missing in ret_16</a:t>
            </a:r>
            <a:endParaRPr lang="en-US" sz="1500" dirty="0"/>
          </a:p>
          <a:p>
            <a:pPr marL="342900" indent="-342900">
              <a:spcAft>
                <a:spcPts val="600"/>
              </a:spcAft>
              <a:buSzPct val="100000"/>
              <a:buChar char="•"/>
            </a:pPr>
            <a:r>
              <a:rPr lang="en-US" sz="1500" dirty="0">
                <a:solidFill>
                  <a:schemeClr val="tx1"/>
                </a:solidFill>
              </a:rPr>
              <a:t>Coverage only shows words are present, not that meaning is right</a:t>
            </a:r>
            <a:endParaRPr lang="en-US" sz="1500" dirty="0"/>
          </a:p>
          <a:p>
            <a:pPr marL="342900" indent="-342900">
              <a:spcAft>
                <a:spcPts val="600"/>
              </a:spcAft>
              <a:buSzPct val="100000"/>
              <a:buChar char="•"/>
            </a:pPr>
            <a:r>
              <a:rPr lang="en-US" sz="1500" dirty="0">
                <a:solidFill>
                  <a:schemeClr val="tx1"/>
                </a:solidFill>
              </a:rPr>
              <a:t>The check sheet gives a separate translation accuracy, apart from the final label</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Decisions I need from you</a:t>
            </a:r>
            <a:endParaRPr lang="en-US" sz="3000" dirty="0"/>
          </a:p>
        </p:txBody>
      </p:sp>
      <p:sp>
        <p:nvSpPr>
          <p:cNvPr id="4" name="q1 card"/>
          <p:cNvSpPr/>
          <p:nvPr/>
        </p:nvSpPr>
        <p:spPr>
          <a:xfrm>
            <a:off x="457200" y="1188720"/>
            <a:ext cx="3977640" cy="1600200"/>
          </a:xfrm>
          <a:prstGeom prst="roundRect">
            <a:avLst>
              <a:gd name="adj" fmla="val 4571"/>
            </a:avLst>
          </a:prstGeom>
          <a:solidFill>
            <a:schemeClr val="bg2"/>
          </a:solidFill>
          <a:ln w="12700">
            <a:solidFill>
              <a:schemeClr val="bg2"/>
            </a:solidFill>
            <a:prstDash val="solid"/>
          </a:ln>
        </p:spPr>
      </p:sp>
      <p:sp>
        <p:nvSpPr>
          <p:cNvPr id="5" name="q1 dot"/>
          <p:cNvSpPr/>
          <p:nvPr/>
        </p:nvSpPr>
        <p:spPr>
          <a:xfrm>
            <a:off x="640080" y="1371600"/>
            <a:ext cx="128016" cy="128016"/>
          </a:xfrm>
          <a:prstGeom prst="ellipse">
            <a:avLst/>
          </a:prstGeom>
          <a:solidFill>
            <a:schemeClr val="accent3"/>
          </a:solidFill>
          <a:ln w="12700">
            <a:solidFill>
              <a:schemeClr val="accent3"/>
            </a:solidFill>
            <a:prstDash val="solid"/>
          </a:ln>
        </p:spPr>
      </p:sp>
      <p:sp>
        <p:nvSpPr>
          <p:cNvPr id="6" name="q1 head"/>
          <p:cNvSpPr txBox="1"/>
          <p:nvPr/>
        </p:nvSpPr>
        <p:spPr>
          <a:xfrm>
            <a:off x="868680" y="1280160"/>
            <a:ext cx="3429000" cy="320040"/>
          </a:xfrm>
          <a:prstGeom prst="rect">
            <a:avLst/>
          </a:prstGeom>
          <a:noFill/>
          <a:ln/>
        </p:spPr>
        <p:txBody>
          <a:bodyPr wrap="square" lIns="0" tIns="0" rIns="0" bIns="0" rtlCol="0" anchor="ctr"/>
          <a:lstStyle/>
          <a:p>
            <a:pPr indent="0" marL="0">
              <a:buNone/>
            </a:pPr>
            <a:r>
              <a:rPr lang="en-US" sz="1500" b="1" dirty="0">
                <a:solidFill>
                  <a:schemeClr val="tx1"/>
                </a:solidFill>
              </a:rPr>
              <a:t>Gold conflict</a:t>
            </a:r>
            <a:endParaRPr lang="en-US" sz="1500" dirty="0"/>
          </a:p>
        </p:txBody>
      </p:sp>
      <p:sp>
        <p:nvSpPr>
          <p:cNvPr id="7" name="q1 body"/>
          <p:cNvSpPr txBox="1"/>
          <p:nvPr/>
        </p:nvSpPr>
        <p:spPr>
          <a:xfrm>
            <a:off x="640080" y="1645920"/>
            <a:ext cx="3611880" cy="1051560"/>
          </a:xfrm>
          <a:prstGeom prst="rect">
            <a:avLst/>
          </a:prstGeom>
          <a:noFill/>
          <a:ln/>
        </p:spPr>
        <p:txBody>
          <a:bodyPr wrap="square" lIns="0" tIns="0" rIns="0" bIns="0" rtlCol="0" anchor="t"/>
          <a:lstStyle/>
          <a:p>
            <a:pPr indent="0" marL="0">
              <a:buNone/>
            </a:pPr>
            <a:r>
              <a:rPr lang="en-US" sz="1300" dirty="0">
                <a:solidFill>
                  <a:schemeClr val="tx2"/>
                </a:solidFill>
              </a:rPr>
              <a:t>ret_20 and ret_59 describe similar situations with opposite labels. Which stands?</a:t>
            </a:r>
            <a:endParaRPr lang="en-US" sz="1300" dirty="0"/>
          </a:p>
        </p:txBody>
      </p:sp>
      <p:sp>
        <p:nvSpPr>
          <p:cNvPr id="8" name="q2 card"/>
          <p:cNvSpPr/>
          <p:nvPr/>
        </p:nvSpPr>
        <p:spPr>
          <a:xfrm>
            <a:off x="4709160" y="1188720"/>
            <a:ext cx="3977640" cy="1600200"/>
          </a:xfrm>
          <a:prstGeom prst="roundRect">
            <a:avLst>
              <a:gd name="adj" fmla="val 4571"/>
            </a:avLst>
          </a:prstGeom>
          <a:solidFill>
            <a:schemeClr val="bg2"/>
          </a:solidFill>
          <a:ln w="12700">
            <a:solidFill>
              <a:schemeClr val="bg2"/>
            </a:solidFill>
            <a:prstDash val="solid"/>
          </a:ln>
        </p:spPr>
      </p:sp>
      <p:sp>
        <p:nvSpPr>
          <p:cNvPr id="9" name="q2 dot"/>
          <p:cNvSpPr/>
          <p:nvPr/>
        </p:nvSpPr>
        <p:spPr>
          <a:xfrm>
            <a:off x="4892040" y="1371600"/>
            <a:ext cx="128016" cy="128016"/>
          </a:xfrm>
          <a:prstGeom prst="ellipse">
            <a:avLst/>
          </a:prstGeom>
          <a:solidFill>
            <a:schemeClr val="accent2"/>
          </a:solidFill>
          <a:ln w="12700">
            <a:solidFill>
              <a:schemeClr val="accent2"/>
            </a:solidFill>
            <a:prstDash val="solid"/>
          </a:ln>
        </p:spPr>
      </p:sp>
      <p:sp>
        <p:nvSpPr>
          <p:cNvPr id="10" name="q2 head"/>
          <p:cNvSpPr txBox="1"/>
          <p:nvPr/>
        </p:nvSpPr>
        <p:spPr>
          <a:xfrm>
            <a:off x="5120640" y="1280160"/>
            <a:ext cx="3429000" cy="320040"/>
          </a:xfrm>
          <a:prstGeom prst="rect">
            <a:avLst/>
          </a:prstGeom>
          <a:noFill/>
          <a:ln/>
        </p:spPr>
        <p:txBody>
          <a:bodyPr wrap="square" lIns="0" tIns="0" rIns="0" bIns="0" rtlCol="0" anchor="ctr"/>
          <a:lstStyle/>
          <a:p>
            <a:pPr indent="0" marL="0">
              <a:buNone/>
            </a:pPr>
            <a:r>
              <a:rPr lang="en-US" sz="1500" b="1" dirty="0">
                <a:solidFill>
                  <a:schemeClr val="tx1"/>
                </a:solidFill>
              </a:rPr>
              <a:t>Consent-only exceptions</a:t>
            </a:r>
            <a:endParaRPr lang="en-US" sz="1500" dirty="0"/>
          </a:p>
        </p:txBody>
      </p:sp>
      <p:sp>
        <p:nvSpPr>
          <p:cNvPr id="11" name="q2 body"/>
          <p:cNvSpPr txBox="1"/>
          <p:nvPr/>
        </p:nvSpPr>
        <p:spPr>
          <a:xfrm>
            <a:off x="4892040" y="1645920"/>
            <a:ext cx="3611880" cy="1051560"/>
          </a:xfrm>
          <a:prstGeom prst="rect">
            <a:avLst/>
          </a:prstGeom>
          <a:noFill/>
          <a:ln/>
        </p:spPr>
        <p:txBody>
          <a:bodyPr wrap="square" lIns="0" tIns="0" rIns="0" bIns="0" rtlCol="0" anchor="t"/>
          <a:lstStyle/>
          <a:p>
            <a:pPr indent="0" marL="0">
              <a:buNone/>
            </a:pPr>
            <a:r>
              <a:rPr lang="en-US" sz="1300" dirty="0">
                <a:solidFill>
                  <a:schemeClr val="tx2"/>
                </a:solidFill>
              </a:rPr>
              <a:t>“Unless the other party consents” does not imply a permission for the recipient. Agree?</a:t>
            </a:r>
            <a:endParaRPr lang="en-US" sz="1300" dirty="0"/>
          </a:p>
        </p:txBody>
      </p:sp>
      <p:sp>
        <p:nvSpPr>
          <p:cNvPr id="12" name="q3 card"/>
          <p:cNvSpPr/>
          <p:nvPr/>
        </p:nvSpPr>
        <p:spPr>
          <a:xfrm>
            <a:off x="457200" y="3017520"/>
            <a:ext cx="3977640" cy="1600200"/>
          </a:xfrm>
          <a:prstGeom prst="roundRect">
            <a:avLst>
              <a:gd name="adj" fmla="val 4571"/>
            </a:avLst>
          </a:prstGeom>
          <a:solidFill>
            <a:schemeClr val="bg2"/>
          </a:solidFill>
          <a:ln w="12700">
            <a:solidFill>
              <a:schemeClr val="bg2"/>
            </a:solidFill>
            <a:prstDash val="solid"/>
          </a:ln>
        </p:spPr>
      </p:sp>
      <p:sp>
        <p:nvSpPr>
          <p:cNvPr id="13" name="q3 dot"/>
          <p:cNvSpPr/>
          <p:nvPr/>
        </p:nvSpPr>
        <p:spPr>
          <a:xfrm>
            <a:off x="640080" y="3200400"/>
            <a:ext cx="128016" cy="128016"/>
          </a:xfrm>
          <a:prstGeom prst="ellipse">
            <a:avLst/>
          </a:prstGeom>
          <a:solidFill>
            <a:schemeClr val="accent1"/>
          </a:solidFill>
          <a:ln w="12700">
            <a:solidFill>
              <a:schemeClr val="accent1"/>
            </a:solidFill>
            <a:prstDash val="solid"/>
          </a:ln>
        </p:spPr>
      </p:sp>
      <p:sp>
        <p:nvSpPr>
          <p:cNvPr id="14" name="q3 head"/>
          <p:cNvSpPr txBox="1"/>
          <p:nvPr/>
        </p:nvSpPr>
        <p:spPr>
          <a:xfrm>
            <a:off x="868680" y="3108960"/>
            <a:ext cx="3429000" cy="320040"/>
          </a:xfrm>
          <a:prstGeom prst="rect">
            <a:avLst/>
          </a:prstGeom>
          <a:noFill/>
          <a:ln/>
        </p:spPr>
        <p:txBody>
          <a:bodyPr wrap="square" lIns="0" tIns="0" rIns="0" bIns="0" rtlCol="0" anchor="ctr"/>
          <a:lstStyle/>
          <a:p>
            <a:pPr indent="0" marL="0">
              <a:buNone/>
            </a:pPr>
            <a:r>
              <a:rPr lang="en-US" sz="1500" b="1" dirty="0">
                <a:solidFill>
                  <a:schemeClr val="tx1"/>
                </a:solidFill>
              </a:rPr>
              <a:t>Implied permissions</a:t>
            </a:r>
            <a:endParaRPr lang="en-US" sz="1500" dirty="0"/>
          </a:p>
        </p:txBody>
      </p:sp>
      <p:sp>
        <p:nvSpPr>
          <p:cNvPr id="15" name="q3 body"/>
          <p:cNvSpPr txBox="1"/>
          <p:nvPr/>
        </p:nvSpPr>
        <p:spPr>
          <a:xfrm>
            <a:off x="640080" y="3474720"/>
            <a:ext cx="3611880" cy="1051560"/>
          </a:xfrm>
          <a:prstGeom prst="rect">
            <a:avLst/>
          </a:prstGeom>
          <a:noFill/>
          <a:ln/>
        </p:spPr>
        <p:txBody>
          <a:bodyPr wrap="square" lIns="0" tIns="0" rIns="0" bIns="0" rtlCol="0" anchor="t"/>
          <a:lstStyle/>
          <a:p>
            <a:pPr indent="0" marL="0">
              <a:buNone/>
            </a:pPr>
            <a:r>
              <a:rPr lang="en-US" sz="1300" dirty="0">
                <a:solidFill>
                  <a:schemeClr val="tx2"/>
                </a:solidFill>
              </a:rPr>
              <a:t>An excluded item (public, independently developed) now implies the recipient may use it. Acceptable?</a:t>
            </a:r>
            <a:endParaRPr lang="en-US" sz="1300" dirty="0"/>
          </a:p>
        </p:txBody>
      </p:sp>
      <p:sp>
        <p:nvSpPr>
          <p:cNvPr id="16" name="q4 card"/>
          <p:cNvSpPr/>
          <p:nvPr/>
        </p:nvSpPr>
        <p:spPr>
          <a:xfrm>
            <a:off x="4709160" y="3017520"/>
            <a:ext cx="3977640" cy="1600200"/>
          </a:xfrm>
          <a:prstGeom prst="roundRect">
            <a:avLst>
              <a:gd name="adj" fmla="val 4571"/>
            </a:avLst>
          </a:prstGeom>
          <a:solidFill>
            <a:schemeClr val="bg2"/>
          </a:solidFill>
          <a:ln w="12700">
            <a:solidFill>
              <a:schemeClr val="bg2"/>
            </a:solidFill>
            <a:prstDash val="solid"/>
          </a:ln>
        </p:spPr>
      </p:sp>
      <p:sp>
        <p:nvSpPr>
          <p:cNvPr id="17" name="q4 dot"/>
          <p:cNvSpPr/>
          <p:nvPr/>
        </p:nvSpPr>
        <p:spPr>
          <a:xfrm>
            <a:off x="4892040" y="3200400"/>
            <a:ext cx="128016" cy="128016"/>
          </a:xfrm>
          <a:prstGeom prst="ellipse">
            <a:avLst/>
          </a:prstGeom>
          <a:solidFill>
            <a:schemeClr val="accent4"/>
          </a:solidFill>
          <a:ln w="12700">
            <a:solidFill>
              <a:schemeClr val="accent4"/>
            </a:solidFill>
            <a:prstDash val="solid"/>
          </a:ln>
        </p:spPr>
      </p:sp>
      <p:sp>
        <p:nvSpPr>
          <p:cNvPr id="18" name="q4 head"/>
          <p:cNvSpPr txBox="1"/>
          <p:nvPr/>
        </p:nvSpPr>
        <p:spPr>
          <a:xfrm>
            <a:off x="5120640" y="3108960"/>
            <a:ext cx="3429000" cy="320040"/>
          </a:xfrm>
          <a:prstGeom prst="rect">
            <a:avLst/>
          </a:prstGeom>
          <a:noFill/>
          <a:ln/>
        </p:spPr>
        <p:txBody>
          <a:bodyPr wrap="square" lIns="0" tIns="0" rIns="0" bIns="0" rtlCol="0" anchor="ctr"/>
          <a:lstStyle/>
          <a:p>
            <a:pPr indent="0" marL="0">
              <a:buNone/>
            </a:pPr>
            <a:r>
              <a:rPr lang="en-US" sz="1500" b="1" dirty="0">
                <a:solidFill>
                  <a:schemeClr val="tx1"/>
                </a:solidFill>
              </a:rPr>
              <a:t>Measuring translation</a:t>
            </a:r>
            <a:endParaRPr lang="en-US" sz="1500" dirty="0"/>
          </a:p>
        </p:txBody>
      </p:sp>
      <p:sp>
        <p:nvSpPr>
          <p:cNvPr id="19" name="q4 body"/>
          <p:cNvSpPr txBox="1"/>
          <p:nvPr/>
        </p:nvSpPr>
        <p:spPr>
          <a:xfrm>
            <a:off x="4892040" y="3474720"/>
            <a:ext cx="3611880" cy="1051560"/>
          </a:xfrm>
          <a:prstGeom prst="rect">
            <a:avLst/>
          </a:prstGeom>
          <a:noFill/>
          <a:ln/>
        </p:spPr>
        <p:txBody>
          <a:bodyPr wrap="square" lIns="0" tIns="0" rIns="0" bIns="0" rtlCol="0" anchor="t"/>
          <a:lstStyle/>
          <a:p>
            <a:pPr indent="0" marL="0">
              <a:buNone/>
            </a:pPr>
            <a:r>
              <a:rPr lang="en-US" sz="1300" dirty="0">
                <a:solidFill>
                  <a:schemeClr val="tx2"/>
                </a:solidFill>
              </a:rPr>
              <a:t>Is a clause-by-clause human check on 15 passages the right way to show translation quality?</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Next steps</a:t>
            </a:r>
            <a:endParaRPr lang="en-US" sz="3000" dirty="0"/>
          </a:p>
        </p:txBody>
      </p:sp>
      <p:sp>
        <p:nvSpPr>
          <p:cNvPr id="4" name="next num bg 1"/>
          <p:cNvSpPr/>
          <p:nvPr/>
        </p:nvSpPr>
        <p:spPr>
          <a:xfrm>
            <a:off x="457200" y="1188720"/>
            <a:ext cx="640080" cy="640080"/>
          </a:xfrm>
          <a:prstGeom prst="ellipse">
            <a:avLst/>
          </a:prstGeom>
          <a:solidFill>
            <a:schemeClr val="accent1"/>
          </a:solidFill>
          <a:ln w="12700">
            <a:solidFill>
              <a:schemeClr val="accent1"/>
            </a:solidFill>
            <a:prstDash val="solid"/>
          </a:ln>
        </p:spPr>
      </p:sp>
      <p:sp>
        <p:nvSpPr>
          <p:cNvPr id="5" name="next num 1"/>
          <p:cNvSpPr txBox="1"/>
          <p:nvPr/>
        </p:nvSpPr>
        <p:spPr>
          <a:xfrm>
            <a:off x="457200" y="118872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next head 1"/>
          <p:cNvSpPr txBox="1"/>
          <p:nvPr/>
        </p:nvSpPr>
        <p:spPr>
          <a:xfrm>
            <a:off x="1325880" y="1188720"/>
            <a:ext cx="7223760" cy="320040"/>
          </a:xfrm>
          <a:prstGeom prst="rect">
            <a:avLst/>
          </a:prstGeom>
          <a:noFill/>
          <a:ln/>
        </p:spPr>
        <p:txBody>
          <a:bodyPr wrap="square" lIns="0" tIns="0" rIns="0" bIns="0" rtlCol="0" anchor="ctr"/>
          <a:lstStyle/>
          <a:p>
            <a:pPr indent="0" marL="0">
              <a:buNone/>
            </a:pPr>
            <a:r>
              <a:rPr lang="en-US" sz="1700" b="1" dirty="0">
                <a:solidFill>
                  <a:schemeClr val="tx1"/>
                </a:solidFill>
              </a:rPr>
              <a:t>Multi-agent test</a:t>
            </a:r>
            <a:endParaRPr lang="en-US" sz="1700" dirty="0"/>
          </a:p>
        </p:txBody>
      </p:sp>
      <p:sp>
        <p:nvSpPr>
          <p:cNvPr id="7" name="next body 1"/>
          <p:cNvSpPr txBox="1"/>
          <p:nvPr/>
        </p:nvSpPr>
        <p:spPr>
          <a:xfrm>
            <a:off x="1325880" y="1508760"/>
            <a:ext cx="7223760" cy="365760"/>
          </a:xfrm>
          <a:prstGeom prst="rect">
            <a:avLst/>
          </a:prstGeom>
          <a:noFill/>
          <a:ln/>
        </p:spPr>
        <p:txBody>
          <a:bodyPr wrap="square" lIns="0" tIns="0" rIns="0" bIns="0" rtlCol="0" anchor="ctr"/>
          <a:lstStyle/>
          <a:p>
            <a:pPr indent="0" marL="0">
              <a:buNone/>
            </a:pPr>
            <a:r>
              <a:rPr lang="en-US" sz="1400" dirty="0">
                <a:solidFill>
                  <a:schemeClr val="tx2"/>
                </a:solidFill>
              </a:rPr>
              <a:t>3 agents vote on dev15; free providers possible (Ollama, Groq, Gemini)</a:t>
            </a:r>
            <a:endParaRPr lang="en-US" sz="1400" dirty="0"/>
          </a:p>
        </p:txBody>
      </p:sp>
      <p:sp>
        <p:nvSpPr>
          <p:cNvPr id="8" name="next num bg 2"/>
          <p:cNvSpPr/>
          <p:nvPr/>
        </p:nvSpPr>
        <p:spPr>
          <a:xfrm>
            <a:off x="457200" y="2057400"/>
            <a:ext cx="640080" cy="640080"/>
          </a:xfrm>
          <a:prstGeom prst="ellipse">
            <a:avLst/>
          </a:prstGeom>
          <a:solidFill>
            <a:schemeClr val="accent1"/>
          </a:solidFill>
          <a:ln w="12700">
            <a:solidFill>
              <a:schemeClr val="accent1"/>
            </a:solidFill>
            <a:prstDash val="solid"/>
          </a:ln>
        </p:spPr>
      </p:sp>
      <p:sp>
        <p:nvSpPr>
          <p:cNvPr id="9" name="next num 2"/>
          <p:cNvSpPr txBox="1"/>
          <p:nvPr/>
        </p:nvSpPr>
        <p:spPr>
          <a:xfrm>
            <a:off x="457200" y="205740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next head 2"/>
          <p:cNvSpPr txBox="1"/>
          <p:nvPr/>
        </p:nvSpPr>
        <p:spPr>
          <a:xfrm>
            <a:off x="1325880" y="2057400"/>
            <a:ext cx="7223760" cy="320040"/>
          </a:xfrm>
          <a:prstGeom prst="rect">
            <a:avLst/>
          </a:prstGeom>
          <a:noFill/>
          <a:ln/>
        </p:spPr>
        <p:txBody>
          <a:bodyPr wrap="square" lIns="0" tIns="0" rIns="0" bIns="0" rtlCol="0" anchor="ctr"/>
          <a:lstStyle/>
          <a:p>
            <a:pPr indent="0" marL="0">
              <a:buNone/>
            </a:pPr>
            <a:r>
              <a:rPr lang="en-US" sz="1700" b="1" dirty="0">
                <a:solidFill>
                  <a:schemeClr val="tx1"/>
                </a:solidFill>
              </a:rPr>
              <a:t>Fair comparison</a:t>
            </a:r>
            <a:endParaRPr lang="en-US" sz="1700" dirty="0"/>
          </a:p>
        </p:txBody>
      </p:sp>
      <p:sp>
        <p:nvSpPr>
          <p:cNvPr id="11" name="next body 2"/>
          <p:cNvSpPr txBox="1"/>
          <p:nvPr/>
        </p:nvSpPr>
        <p:spPr>
          <a:xfrm>
            <a:off x="1325880" y="2377440"/>
            <a:ext cx="7223760" cy="365760"/>
          </a:xfrm>
          <a:prstGeom prst="rect">
            <a:avLst/>
          </a:prstGeom>
          <a:noFill/>
          <a:ln/>
        </p:spPr>
        <p:txBody>
          <a:bodyPr wrap="square" lIns="0" tIns="0" rIns="0" bIns="0" rtlCol="0" anchor="ctr"/>
          <a:lstStyle/>
          <a:p>
            <a:pPr indent="0" marL="0">
              <a:buNone/>
            </a:pPr>
            <a:r>
              <a:rPr lang="en-US" sz="1400" dirty="0">
                <a:solidFill>
                  <a:schemeClr val="tx2"/>
                </a:solidFill>
              </a:rPr>
              <a:t>Re-run fresh15, then fresh60, pipeline vs plain LLM, fixed engine</a:t>
            </a:r>
            <a:endParaRPr lang="en-US" sz="1400" dirty="0"/>
          </a:p>
        </p:txBody>
      </p:sp>
      <p:sp>
        <p:nvSpPr>
          <p:cNvPr id="12" name="next num bg 3"/>
          <p:cNvSpPr/>
          <p:nvPr/>
        </p:nvSpPr>
        <p:spPr>
          <a:xfrm>
            <a:off x="457200" y="2926080"/>
            <a:ext cx="640080" cy="640080"/>
          </a:xfrm>
          <a:prstGeom prst="ellipse">
            <a:avLst/>
          </a:prstGeom>
          <a:solidFill>
            <a:schemeClr val="accent1"/>
          </a:solidFill>
          <a:ln w="12700">
            <a:solidFill>
              <a:schemeClr val="accent1"/>
            </a:solidFill>
            <a:prstDash val="solid"/>
          </a:ln>
        </p:spPr>
      </p:sp>
      <p:sp>
        <p:nvSpPr>
          <p:cNvPr id="13" name="next num 3"/>
          <p:cNvSpPr txBox="1"/>
          <p:nvPr/>
        </p:nvSpPr>
        <p:spPr>
          <a:xfrm>
            <a:off x="457200" y="29260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next head 3"/>
          <p:cNvSpPr txBox="1"/>
          <p:nvPr/>
        </p:nvSpPr>
        <p:spPr>
          <a:xfrm>
            <a:off x="1325880" y="2926080"/>
            <a:ext cx="7223760" cy="320040"/>
          </a:xfrm>
          <a:prstGeom prst="rect">
            <a:avLst/>
          </a:prstGeom>
          <a:noFill/>
          <a:ln/>
        </p:spPr>
        <p:txBody>
          <a:bodyPr wrap="square" lIns="0" tIns="0" rIns="0" bIns="0" rtlCol="0" anchor="ctr"/>
          <a:lstStyle/>
          <a:p>
            <a:pPr indent="0" marL="0">
              <a:buNone/>
            </a:pPr>
            <a:r>
              <a:rPr lang="en-US" sz="1700" b="1" dirty="0">
                <a:solidFill>
                  <a:schemeClr val="tx1"/>
                </a:solidFill>
              </a:rPr>
              <a:t>Translation check</a:t>
            </a:r>
            <a:endParaRPr lang="en-US" sz="1700" dirty="0"/>
          </a:p>
        </p:txBody>
      </p:sp>
      <p:sp>
        <p:nvSpPr>
          <p:cNvPr id="15" name="next body 3"/>
          <p:cNvSpPr txBox="1"/>
          <p:nvPr/>
        </p:nvSpPr>
        <p:spPr>
          <a:xfrm>
            <a:off x="1325880" y="3246120"/>
            <a:ext cx="7223760" cy="365760"/>
          </a:xfrm>
          <a:prstGeom prst="rect">
            <a:avLst/>
          </a:prstGeom>
          <a:noFill/>
          <a:ln/>
        </p:spPr>
        <p:txBody>
          <a:bodyPr wrap="square" lIns="0" tIns="0" rIns="0" bIns="0" rtlCol="0" anchor="ctr"/>
          <a:lstStyle/>
          <a:p>
            <a:pPr indent="0" marL="0">
              <a:buNone/>
            </a:pPr>
            <a:r>
              <a:rPr lang="en-US" sz="1400" dirty="0">
                <a:solidFill>
                  <a:schemeClr val="tx2"/>
                </a:solidFill>
              </a:rPr>
              <a:t>Fill in the sheet, report translation accuracy separately</a:t>
            </a:r>
            <a:endParaRPr lang="en-US" sz="1400" dirty="0"/>
          </a:p>
        </p:txBody>
      </p:sp>
      <p:sp>
        <p:nvSpPr>
          <p:cNvPr id="16" name="next num bg 4"/>
          <p:cNvSpPr/>
          <p:nvPr/>
        </p:nvSpPr>
        <p:spPr>
          <a:xfrm>
            <a:off x="457200" y="3794760"/>
            <a:ext cx="640080" cy="640080"/>
          </a:xfrm>
          <a:prstGeom prst="ellipse">
            <a:avLst/>
          </a:prstGeom>
          <a:solidFill>
            <a:schemeClr val="accent1"/>
          </a:solidFill>
          <a:ln w="12700">
            <a:solidFill>
              <a:schemeClr val="accent1"/>
            </a:solidFill>
            <a:prstDash val="solid"/>
          </a:ln>
        </p:spPr>
      </p:sp>
      <p:sp>
        <p:nvSpPr>
          <p:cNvPr id="17" name="next num 4"/>
          <p:cNvSpPr txBox="1"/>
          <p:nvPr/>
        </p:nvSpPr>
        <p:spPr>
          <a:xfrm>
            <a:off x="457200" y="37947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8" name="next head 4"/>
          <p:cNvSpPr txBox="1"/>
          <p:nvPr/>
        </p:nvSpPr>
        <p:spPr>
          <a:xfrm>
            <a:off x="1325880" y="3794760"/>
            <a:ext cx="7223760" cy="320040"/>
          </a:xfrm>
          <a:prstGeom prst="rect">
            <a:avLst/>
          </a:prstGeom>
          <a:noFill/>
          <a:ln/>
        </p:spPr>
        <p:txBody>
          <a:bodyPr wrap="square" lIns="0" tIns="0" rIns="0" bIns="0" rtlCol="0" anchor="ctr"/>
          <a:lstStyle/>
          <a:p>
            <a:pPr indent="0" marL="0">
              <a:buNone/>
            </a:pPr>
            <a:r>
              <a:rPr lang="en-US" sz="1700" b="1" dirty="0">
                <a:solidFill>
                  <a:schemeClr val="tx1"/>
                </a:solidFill>
              </a:rPr>
              <a:t>Generalise</a:t>
            </a:r>
            <a:endParaRPr lang="en-US" sz="1700" dirty="0"/>
          </a:p>
        </p:txBody>
      </p:sp>
      <p:sp>
        <p:nvSpPr>
          <p:cNvPr id="19" name="next body 4"/>
          <p:cNvSpPr txBox="1"/>
          <p:nvPr/>
        </p:nvSpPr>
        <p:spPr>
          <a:xfrm>
            <a:off x="1325880" y="4114800"/>
            <a:ext cx="7223760" cy="365760"/>
          </a:xfrm>
          <a:prstGeom prst="rect">
            <a:avLst/>
          </a:prstGeom>
          <a:noFill/>
          <a:ln/>
        </p:spPr>
        <p:txBody>
          <a:bodyPr wrap="square" lIns="0" tIns="0" rIns="0" bIns="0" rtlCol="0" anchor="ctr"/>
          <a:lstStyle/>
          <a:p>
            <a:pPr indent="0" marL="0">
              <a:buNone/>
            </a:pPr>
            <a:r>
              <a:rPr lang="en-US" sz="1400" dirty="0">
                <a:solidFill>
                  <a:schemeClr val="tx2"/>
                </a:solidFill>
              </a:rPr>
              <a:t>Held-out test on a second dataset, cheaper retrieval model</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Appendix: the files</a:t>
            </a:r>
            <a:endParaRPr lang="en-US" sz="3000" dirty="0"/>
          </a:p>
        </p:txBody>
      </p:sp>
      <p:graphicFrame>
        <p:nvGraphicFramePr>
          <p:cNvPr id="17" name="files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926080"/>
                <a:gridCol w="5303520"/>
              </a:tblGrid>
              <a:tr h="329184">
                <a:tc>
                  <a:txBody>
                    <a:bodyPr/>
                    <a:lstStyle/>
                    <a:p>
                      <a:pPr indent="0" marL="0">
                        <a:buNone/>
                      </a:pPr>
                      <a:r>
                        <a:rPr lang="en-US" sz="1100" b="1" dirty="0">
                          <a:solidFill>
                            <a:srgbClr val="1B2A41"/>
                          </a:solidFill>
                          <a:latin typeface="Courier New" pitchFamily="34" charset="0"/>
                          <a:ea typeface="Courier New" pitchFamily="34" charset="-122"/>
                          <a:cs typeface="Courier New" pitchFamily="34" charset="-120"/>
                        </a:rPr>
                        <a:t>a3_run.py</a:t>
                      </a:r>
                      <a:endParaRPr lang="en-US" sz="1100" dirty="0">
                        <a:latin typeface="Courier New" charset="0"/>
                        <a:ea typeface="Courier New" charset="0"/>
                        <a:cs typeface="Courier New"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3F6"/>
                    </a:solidFill>
                  </a:tcPr>
                </a:tc>
                <a:tc>
                  <a:txBody>
                    <a:bodyPr/>
                    <a:lstStyle/>
                    <a:p>
                      <a:pPr indent="0" marL="0">
                        <a:buNone/>
                      </a:pPr>
                      <a:r>
                        <a:rPr lang="en-US" sz="1200" dirty="0">
                          <a:solidFill>
                            <a:srgbClr val="324A5F"/>
                          </a:solidFill>
                          <a:latin typeface="Calibri" pitchFamily="34" charset="0"/>
                          <a:ea typeface="Calibri" pitchFamily="34" charset="-122"/>
                          <a:cs typeface="Calibri" pitchFamily="34" charset="-120"/>
                        </a:rPr>
                        <a:t>main pipeline: translate, check, align, run ONA, label</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3F6"/>
                    </a:solidFill>
                  </a:tcPr>
                </a:tc>
              </a:tr>
              <a:tr h="329184">
                <a:tc>
                  <a:txBody>
                    <a:bodyPr/>
                    <a:lstStyle/>
                    <a:p>
                      <a:pPr indent="0" marL="0">
                        <a:buNone/>
                      </a:pPr>
                      <a:r>
                        <a:rPr lang="en-US" sz="1100" b="1" dirty="0">
                          <a:solidFill>
                            <a:srgbClr val="1B2A41"/>
                          </a:solidFill>
                          <a:latin typeface="Courier New" pitchFamily="34" charset="0"/>
                          <a:ea typeface="Courier New" pitchFamily="34" charset="-122"/>
                          <a:cs typeface="Courier New" pitchFamily="34" charset="-120"/>
                        </a:rPr>
                        <a:t>a3_core.py</a:t>
                      </a:r>
                      <a:endParaRPr lang="en-US" sz="1100" dirty="0">
                        <a:latin typeface="Courier New" charset="0"/>
                        <a:ea typeface="Courier New" charset="0"/>
                        <a:cs typeface="Courier New"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indent="0" marL="0">
                        <a:buNone/>
                      </a:pPr>
                      <a:r>
                        <a:rPr lang="en-US" sz="1200" dirty="0">
                          <a:solidFill>
                            <a:srgbClr val="324A5F"/>
                          </a:solidFill>
                          <a:latin typeface="Calibri" pitchFamily="34" charset="0"/>
                          <a:ea typeface="Calibri" pitchFamily="34" charset="-122"/>
                          <a:cs typeface="Calibri" pitchFamily="34" charset="-120"/>
                        </a:rPr>
                        <a:t>Narsese compiler: units, rules, conditions, axioms</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B2A41"/>
                          </a:solidFill>
                          <a:latin typeface="Courier New" pitchFamily="34" charset="0"/>
                          <a:ea typeface="Courier New" pitchFamily="34" charset="-122"/>
                          <a:cs typeface="Courier New" pitchFamily="34" charset="-120"/>
                        </a:rPr>
                        <a:t>a3_translate.py</a:t>
                      </a:r>
                      <a:endParaRPr lang="en-US" sz="1100" dirty="0">
                        <a:latin typeface="Courier New" charset="0"/>
                        <a:ea typeface="Courier New" charset="0"/>
                        <a:cs typeface="Courier New"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3F6"/>
                    </a:solidFill>
                  </a:tcPr>
                </a:tc>
                <a:tc>
                  <a:txBody>
                    <a:bodyPr/>
                    <a:lstStyle/>
                    <a:p>
                      <a:pPr indent="0" marL="0">
                        <a:buNone/>
                      </a:pPr>
                      <a:r>
                        <a:rPr lang="en-US" sz="1200" dirty="0">
                          <a:solidFill>
                            <a:srgbClr val="324A5F"/>
                          </a:solidFill>
                          <a:latin typeface="Calibri" pitchFamily="34" charset="0"/>
                          <a:ea typeface="Calibri" pitchFamily="34" charset="-122"/>
                          <a:cs typeface="Calibri" pitchFamily="34" charset="-120"/>
                        </a:rPr>
                        <a:t>prompts and LLM calls (translation, alignment, verifier)</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3F6"/>
                    </a:solidFill>
                  </a:tcPr>
                </a:tc>
              </a:tr>
              <a:tr h="329184">
                <a:tc>
                  <a:txBody>
                    <a:bodyPr/>
                    <a:lstStyle/>
                    <a:p>
                      <a:pPr indent="0" marL="0">
                        <a:buNone/>
                      </a:pPr>
                      <a:r>
                        <a:rPr lang="en-US" sz="1100" b="1" dirty="0">
                          <a:solidFill>
                            <a:srgbClr val="1B2A41"/>
                          </a:solidFill>
                          <a:latin typeface="Courier New" pitchFamily="34" charset="0"/>
                          <a:ea typeface="Courier New" pitchFamily="34" charset="-122"/>
                          <a:cs typeface="Courier New" pitchFamily="34" charset="-120"/>
                        </a:rPr>
                        <a:t>a2_ona.py</a:t>
                      </a:r>
                      <a:endParaRPr lang="en-US" sz="1100" dirty="0">
                        <a:latin typeface="Courier New" charset="0"/>
                        <a:ea typeface="Courier New" charset="0"/>
                        <a:cs typeface="Courier New"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indent="0" marL="0">
                        <a:buNone/>
                      </a:pPr>
                      <a:r>
                        <a:rPr lang="en-US" sz="1200" dirty="0">
                          <a:solidFill>
                            <a:srgbClr val="324A5F"/>
                          </a:solidFill>
                          <a:latin typeface="Calibri" pitchFamily="34" charset="0"/>
                          <a:ea typeface="Calibri" pitchFamily="34" charset="-122"/>
                          <a:cs typeface="Calibri" pitchFamily="34" charset="-120"/>
                        </a:rPr>
                        <a:t>ONA runner: name shortening, size check, timeout</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B2A41"/>
                          </a:solidFill>
                          <a:latin typeface="Courier New" pitchFamily="34" charset="0"/>
                          <a:ea typeface="Courier New" pitchFamily="34" charset="-122"/>
                          <a:cs typeface="Courier New" pitchFamily="34" charset="-120"/>
                        </a:rPr>
                        <a:t>a3_multi.py</a:t>
                      </a:r>
                      <a:endParaRPr lang="en-US" sz="1100" dirty="0">
                        <a:latin typeface="Courier New" charset="0"/>
                        <a:ea typeface="Courier New" charset="0"/>
                        <a:cs typeface="Courier New"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3F6"/>
                    </a:solidFill>
                  </a:tcPr>
                </a:tc>
                <a:tc>
                  <a:txBody>
                    <a:bodyPr/>
                    <a:lstStyle/>
                    <a:p>
                      <a:pPr indent="0" marL="0">
                        <a:buNone/>
                      </a:pPr>
                      <a:r>
                        <a:rPr lang="en-US" sz="1200" dirty="0">
                          <a:solidFill>
                            <a:srgbClr val="324A5F"/>
                          </a:solidFill>
                          <a:latin typeface="Calibri" pitchFamily="34" charset="0"/>
                          <a:ea typeface="Calibri" pitchFamily="34" charset="-122"/>
                          <a:cs typeface="Calibri" pitchFamily="34" charset="-120"/>
                        </a:rPr>
                        <a:t>multi-agent voting</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3F6"/>
                    </a:solidFill>
                  </a:tcPr>
                </a:tc>
              </a:tr>
              <a:tr h="329184">
                <a:tc>
                  <a:txBody>
                    <a:bodyPr/>
                    <a:lstStyle/>
                    <a:p>
                      <a:pPr indent="0" marL="0">
                        <a:buNone/>
                      </a:pPr>
                      <a:r>
                        <a:rPr lang="en-US" sz="1100" b="1" dirty="0">
                          <a:solidFill>
                            <a:srgbClr val="1B2A41"/>
                          </a:solidFill>
                          <a:latin typeface="Courier New" pitchFamily="34" charset="0"/>
                          <a:ea typeface="Courier New" pitchFamily="34" charset="-122"/>
                          <a:cs typeface="Courier New" pitchFamily="34" charset="-120"/>
                        </a:rPr>
                        <a:t>a3_baseline.py, a3_compare.py</a:t>
                      </a:r>
                      <a:endParaRPr lang="en-US" sz="1100" dirty="0">
                        <a:latin typeface="Courier New" charset="0"/>
                        <a:ea typeface="Courier New" charset="0"/>
                        <a:cs typeface="Courier New"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indent="0" marL="0">
                        <a:buNone/>
                      </a:pPr>
                      <a:r>
                        <a:rPr lang="en-US" sz="1200" dirty="0">
                          <a:solidFill>
                            <a:srgbClr val="324A5F"/>
                          </a:solidFill>
                          <a:latin typeface="Calibri" pitchFamily="34" charset="0"/>
                          <a:ea typeface="Calibri" pitchFamily="34" charset="-122"/>
                          <a:cs typeface="Calibri" pitchFamily="34" charset="-120"/>
                        </a:rPr>
                        <a:t>plain-LLM baseline and side-by-side comparison</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B2A41"/>
                          </a:solidFill>
                          <a:latin typeface="Courier New" pitchFamily="34" charset="0"/>
                          <a:ea typeface="Courier New" pitchFamily="34" charset="-122"/>
                          <a:cs typeface="Courier New" pitchFamily="34" charset="-120"/>
                        </a:rPr>
                        <a:t>patch_ona.sh</a:t>
                      </a:r>
                      <a:endParaRPr lang="en-US" sz="1100" dirty="0">
                        <a:latin typeface="Courier New" charset="0"/>
                        <a:ea typeface="Courier New" charset="0"/>
                        <a:cs typeface="Courier New"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3F6"/>
                    </a:solidFill>
                  </a:tcPr>
                </a:tc>
                <a:tc>
                  <a:txBody>
                    <a:bodyPr/>
                    <a:lstStyle/>
                    <a:p>
                      <a:pPr indent="0" marL="0">
                        <a:buNone/>
                      </a:pPr>
                      <a:r>
                        <a:rPr lang="en-US" sz="1200" dirty="0">
                          <a:solidFill>
                            <a:srgbClr val="324A5F"/>
                          </a:solidFill>
                          <a:latin typeface="Calibri" pitchFamily="34" charset="0"/>
                          <a:ea typeface="Calibri" pitchFamily="34" charset="-122"/>
                          <a:cs typeface="Calibri" pitchFamily="34" charset="-120"/>
                        </a:rPr>
                        <a:t>builds ONA with larger limits and smoke-tests it</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3F6"/>
                    </a:solidFill>
                  </a:tcPr>
                </a:tc>
              </a:tr>
              <a:tr h="329184">
                <a:tc>
                  <a:txBody>
                    <a:bodyPr/>
                    <a:lstStyle/>
                    <a:p>
                      <a:pPr indent="0" marL="0">
                        <a:buNone/>
                      </a:pPr>
                      <a:r>
                        <a:rPr lang="en-US" sz="1100" b="1" dirty="0">
                          <a:solidFill>
                            <a:srgbClr val="1B2A41"/>
                          </a:solidFill>
                          <a:latin typeface="Courier New" pitchFamily="34" charset="0"/>
                          <a:ea typeface="Courier New" pitchFamily="34" charset="-122"/>
                          <a:cs typeface="Courier New" pitchFamily="34" charset="-120"/>
                        </a:rPr>
                        <a:t>dev15, fresh15, eval_fresh60 .json</a:t>
                      </a:r>
                      <a:endParaRPr lang="en-US" sz="1100" dirty="0">
                        <a:latin typeface="Courier New" charset="0"/>
                        <a:ea typeface="Courier New" charset="0"/>
                        <a:cs typeface="Courier New"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indent="0" marL="0">
                        <a:buNone/>
                      </a:pPr>
                      <a:r>
                        <a:rPr lang="en-US" sz="1200" dirty="0">
                          <a:solidFill>
                            <a:srgbClr val="324A5F"/>
                          </a:solidFill>
                          <a:latin typeface="Calibri" pitchFamily="34" charset="0"/>
                          <a:ea typeface="Calibri" pitchFamily="34" charset="-122"/>
                          <a:cs typeface="Calibri" pitchFamily="34" charset="-120"/>
                        </a:rPr>
                        <a:t>test sets</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B2A41"/>
                          </a:solidFill>
                          <a:latin typeface="Courier New" pitchFamily="34" charset="0"/>
                          <a:ea typeface="Courier New" pitchFamily="34" charset="-122"/>
                          <a:cs typeface="Courier New" pitchFamily="34" charset="-120"/>
                        </a:rPr>
                        <a:t>a3_gold.json, a3_hyp_gold.json</a:t>
                      </a:r>
                      <a:endParaRPr lang="en-US" sz="1100" dirty="0">
                        <a:latin typeface="Courier New" charset="0"/>
                        <a:ea typeface="Courier New" charset="0"/>
                        <a:cs typeface="Courier New"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3F6"/>
                    </a:solidFill>
                  </a:tcPr>
                </a:tc>
                <a:tc>
                  <a:txBody>
                    <a:bodyPr/>
                    <a:lstStyle/>
                    <a:p>
                      <a:pPr indent="0" marL="0">
                        <a:buNone/>
                      </a:pPr>
                      <a:r>
                        <a:rPr lang="en-US" sz="1200" dirty="0">
                          <a:solidFill>
                            <a:srgbClr val="324A5F"/>
                          </a:solidFill>
                          <a:latin typeface="Calibri" pitchFamily="34" charset="0"/>
                          <a:ea typeface="Calibri" pitchFamily="34" charset="-122"/>
                          <a:cs typeface="Calibri" pitchFamily="34" charset="-120"/>
                        </a:rPr>
                        <a:t>hand translations used to test the engine alone</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EEF3F6"/>
                    </a:solidFill>
                  </a:tcPr>
                </a:tc>
              </a:tr>
              <a:tr h="329184">
                <a:tc>
                  <a:txBody>
                    <a:bodyPr/>
                    <a:lstStyle/>
                    <a:p>
                      <a:pPr indent="0" marL="0">
                        <a:buNone/>
                      </a:pPr>
                      <a:r>
                        <a:rPr lang="en-US" sz="1100" b="1" dirty="0">
                          <a:solidFill>
                            <a:srgbClr val="1B2A41"/>
                          </a:solidFill>
                          <a:latin typeface="Courier New" pitchFamily="34" charset="0"/>
                          <a:ea typeface="Courier New" pitchFamily="34" charset="-122"/>
                          <a:cs typeface="Courier New" pitchFamily="34" charset="-120"/>
                        </a:rPr>
                        <a:t>translation_check_sheet.xlsx</a:t>
                      </a:r>
                      <a:endParaRPr lang="en-US" sz="1100" dirty="0">
                        <a:latin typeface="Courier New" charset="0"/>
                        <a:ea typeface="Courier New" charset="0"/>
                        <a:cs typeface="Courier New"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c>
                  <a:txBody>
                    <a:bodyPr/>
                    <a:lstStyle/>
                    <a:p>
                      <a:pPr indent="0" marL="0">
                        <a:buNone/>
                      </a:pPr>
                      <a:r>
                        <a:rPr lang="en-US" sz="1200" dirty="0">
                          <a:solidFill>
                            <a:srgbClr val="324A5F"/>
                          </a:solidFill>
                          <a:latin typeface="Calibri" pitchFamily="34" charset="0"/>
                          <a:ea typeface="Calibri" pitchFamily="34" charset="-122"/>
                          <a:cs typeface="Calibri" pitchFamily="34" charset="-120"/>
                        </a:rPr>
                        <a:t>human check of translation quality</a:t>
                      </a:r>
                      <a:endParaRPr lang="en-US" sz="1200" dirty="0">
                        <a:latin typeface="Calibri" charset="0"/>
                        <a:ea typeface="Calibri" charset="0"/>
                        <a:cs typeface="Calibri" charset="0"/>
                      </a:endParaRPr>
                    </a:p>
                  </a:txBody>
                  <a:tcPr marL="91440" marR="91440" marT="0" marB="0" anchor="ctr">
                    <a:lnL w="6350" cap="flat" cmpd="sng" algn="ctr">
                      <a:solidFill>
                        <a:srgbClr val="D5DEE5"/>
                      </a:solidFill>
                      <a:prstDash val="solid"/>
                      <a:round/>
                      <a:headEnd type="none" w="med" len="med"/>
                      <a:tailEnd type="none" w="med" len="med"/>
                    </a:lnL>
                    <a:lnR w="6350" cap="flat" cmpd="sng" algn="ctr">
                      <a:solidFill>
                        <a:srgbClr val="D5DEE5"/>
                      </a:solidFill>
                      <a:prstDash val="solid"/>
                      <a:round/>
                      <a:headEnd type="none" w="med" len="med"/>
                      <a:tailEnd type="none" w="med" len="med"/>
                    </a:lnR>
                    <a:lnT w="6350" cap="flat" cmpd="sng" algn="ctr">
                      <a:solidFill>
                        <a:srgbClr val="D5DEE5"/>
                      </a:solidFill>
                      <a:prstDash val="solid"/>
                      <a:round/>
                      <a:headEnd type="none" w="med" len="med"/>
                      <a:tailEnd type="none" w="med" len="med"/>
                    </a:lnT>
                    <a:lnB w="6350" cap="flat" cmpd="sng" algn="ctr">
                      <a:solidFill>
                        <a:srgbClr val="D5DEE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Contract Reasoning">
  <a:themeElements>
    <a:clrScheme name="Contract Reasoning">
      <a:dk1>
        <a:srgbClr val="1B2A41"/>
      </a:dk1>
      <a:lt1>
        <a:srgbClr val="FFFFFF"/>
      </a:lt1>
      <a:dk2>
        <a:srgbClr val="324A5F"/>
      </a:dk2>
      <a:lt2>
        <a:srgbClr val="EEF3F6"/>
      </a:lt2>
      <a:accent1>
        <a:srgbClr val="1F8A82"/>
      </a:accent1>
      <a:accent2>
        <a:srgbClr val="D98E04"/>
      </a:accent2>
      <a:accent3>
        <a:srgbClr val="B83A32"/>
      </a:accent3>
      <a:accent4>
        <a:srgbClr val="2E7D4F"/>
      </a:accent4>
      <a:accent5>
        <a:srgbClr val="6B7C93"/>
      </a:accent5>
      <a:accent6>
        <a:srgbClr val="9FD3CD"/>
      </a:accent6>
      <a:hlink>
        <a:srgbClr val="1F8A82"/>
      </a:hlink>
      <a:folHlink>
        <a:srgbClr val="6B7C93"/>
      </a:folHlink>
    </a:clrScheme>
    <a:fontScheme name="Contract Reason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Contract NLI with LLM + NARS: progress update</dc:title>
  <dc:subject>PptxGenJS Presentation</dc:subject>
  <dc:creator>PptxGenJS</dc:creator>
  <cp:lastModifiedBy>PptxGenJS</cp:lastModifiedBy>
  <cp:revision>1</cp:revision>
  <dcterms:created xsi:type="dcterms:W3CDTF">2026-10-26T17:56:49Z</dcterms:created>
  <dcterms:modified xsi:type="dcterms:W3CDTF">2026-10-26T17:56:49Z</dcterms:modified>
</cp:coreProperties>
</file>